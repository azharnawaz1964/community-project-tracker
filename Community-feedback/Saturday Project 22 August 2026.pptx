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run.googleapis.com" TargetMode="External"/><Relationship Id="rId3" Type="http://schemas.openxmlformats.org/officeDocument/2006/relationships/hyperlink" Target="http://firestore.googleapis.com" TargetMode="External"/><Relationship Id="rId4" Type="http://schemas.openxmlformats.org/officeDocument/2006/relationships/hyperlink" Target="http://bigquery.googleapis.com" TargetMode="External"/><Relationship Id="rId5" Type="http://schemas.openxmlformats.org/officeDocument/2006/relationships/hyperlink" Target="http://cloudbuild.googleapis.com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pRHKBXr2n1lP766WTaq76rjcHmMGCfzXP6KndZyivLk/edit?usp=sharing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pRHKBXr2n1lP766WTaq76rjcHmMGCfzXP6KndZyivLk/edit?usp=sharing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WtrMh7gcSkoB-6CtVQWfkOCdqDyr55eETX4eFGnZQnA/edit?usp=sharing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cloud.google.com/iam/docs/roles-permissions/bigquery?utm_source=chatgpt.com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unity-project-tracker-653862733743.europe-west1.run.app/" TargetMode="Externa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49f7cd06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49f7cd06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49f7cd067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49f7cd06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49f7cd06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49f7cd06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If you're using the latest Google Cloud Console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aware that Google has been encouraging users to host static websites behind services such as Cloud Load Balancing or Firebase Hosting for production environments. However, </a:t>
            </a:r>
            <a:r>
              <a:rPr b="1" lang="en">
                <a:solidFill>
                  <a:schemeClr val="dk1"/>
                </a:solidFill>
              </a:rPr>
              <a:t>Cloud Storage static website hosting is still perfectly suitable for learning</a:t>
            </a:r>
            <a:r>
              <a:rPr lang="en">
                <a:solidFill>
                  <a:schemeClr val="dk1"/>
                </a:solidFill>
              </a:rPr>
              <a:t> and is one of the easiest ways to introduce Cloud Storage, buckets, IAM, and object permissions in a beginner workshop.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a </a:t>
            </a:r>
            <a:r>
              <a:rPr b="1" lang="en">
                <a:solidFill>
                  <a:schemeClr val="dk1"/>
                </a:solidFill>
              </a:rPr>
              <a:t>Google Cloud Digital Leader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Associate Cloud Engineer</a:t>
            </a:r>
            <a:r>
              <a:rPr lang="en">
                <a:solidFill>
                  <a:schemeClr val="dk1"/>
                </a:solidFill>
              </a:rPr>
              <a:t> class, this remains an excellent first hands-on lab.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b1ec9fe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ab1ec9fe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b1ec9fe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ab1ec9fe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ab1ec9f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ab1ec9f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909382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9909382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9093828a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99093828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49f7cd067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49f7cd067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 you see “Disable billing”, it means that your billing is enabled.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 need to do anything.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 it says. “Enable Billing”, select that option.</a:t>
            </a:r>
            <a:endParaRPr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99093828a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99093828a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99093828a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99093828a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99093828a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99093828a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9093828a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99093828a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9093828a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99093828a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9093828a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99093828a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99093828a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99093828a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99093828a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99093828a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gcloud services enable </a:t>
            </a:r>
            <a:r>
              <a:rPr lang="en" u="sng">
                <a:solidFill>
                  <a:schemeClr val="hlink"/>
                </a:solidFill>
                <a:hlinkClick r:id="rId2"/>
              </a:rPr>
              <a:t>run.googleapis.com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gcloud services enable </a:t>
            </a:r>
            <a:r>
              <a:rPr lang="en" u="sng">
                <a:solidFill>
                  <a:schemeClr val="hlink"/>
                </a:solidFill>
                <a:hlinkClick r:id="rId3"/>
              </a:rPr>
              <a:t>firestore.googleapis.com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gcloud services enable </a:t>
            </a:r>
            <a:r>
              <a:rPr lang="en" u="sng">
                <a:solidFill>
                  <a:schemeClr val="hlink"/>
                </a:solidFill>
                <a:hlinkClick r:id="rId4"/>
              </a:rPr>
              <a:t>bigquery.googleapis.com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gcloud services enable </a:t>
            </a:r>
            <a:r>
              <a:rPr lang="en" u="sng">
                <a:solidFill>
                  <a:schemeClr val="hlink"/>
                </a:solidFill>
                <a:hlinkClick r:id="rId5"/>
              </a:rPr>
              <a:t>cloudbuild.googleapis.com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Cloud Build because Cloud Run source deployment uses Google Cloud buildpacks/Cloud Build to build the application automatically.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ab1ec9fea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ab1ec9fea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ab1ec9fea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ab1ec9fea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gcloud firestore databases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gcloud firestore databases create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--database="(default)"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--location=europe-west1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gcloud firestore databases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ab1ec9fea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ab1ec9fea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ab1ec9fea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ab1ec9fea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ab1ec9fea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ab1ec9fea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ab1ec9fea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ab1ec9fea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bq mk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--dataset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--location=europe-west1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YOUR_PROJECT_ID:community_analytics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bq mk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--dataset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--location=europe-west1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community-project-tracker-123:community_analytics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9fbf03de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9fbf03de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ab1ec9fea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ab1ec9fea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ab1ec9fea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ab1ec9fea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bq mk --table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YOUR_PROJECT_ID:community_analytics.participants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participant_id:STRING,participant_name:STRING,project_name:STRING,category:STRING,hours:FLOAT64,registered_at:TIMESTAMP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bq show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YOUR_PROJECT_ID:community_analytics.participants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ab1ec9fea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ab1ec9fea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ab1ec9fea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ab1ec9fea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ab1ec9fea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ab1ec9fea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mkdir community-project-tracker1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d community-project-tracker1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99093828a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99093828a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2"/>
              </a:rPr>
              <a:t>https://docs.google.com/document/d/1pRHKBXr2n1lP766WTaq76rjcHmMGCfzXP6KndZyivLk/edit?usp=sharing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Main py command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9fbf03de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9fbf03de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2"/>
              </a:rPr>
              <a:t>https://docs.google.com/document/d/1pRHKBXr2n1lP766WTaq76rjcHmMGCfzXP6KndZyivLk/edit?usp=sharing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99093828a_0_1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99093828a_0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https://docs.google.com/document/d/1WtrMh7gcSkoB-6CtVQWfkOCdqDyr55eETX4eFGnZQnA/edit?usp=sharing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Flask==3.1.3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google-cloud-firestore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google-cloud-bigquery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gunicorn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99093828a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f99093828a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ab1ec9fea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ab1ec9fea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ab1ec9fea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ab1ec9fea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ab1ec9fea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fab1ec9fea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ab1ec9fea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ab1ec9fea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gcloud projects describe YOUR_PROJECT_ID \</a:t>
            </a:r>
            <a:br>
              <a:rPr b="1" lang="en" sz="1425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425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--format="value(projectNumber)"</a:t>
            </a:r>
            <a:endParaRPr b="1" sz="17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ab1ec9fea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ab1ec9fea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 community-project-tracker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3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gcloud projects add-iam-policy-binding YOUR_PROJECT_ID \</a:t>
            </a:r>
            <a:br>
              <a:rPr lang="en" sz="113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3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  --member="serviceAccount:</a:t>
            </a:r>
            <a:r>
              <a:rPr b="1" lang="en" sz="113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PROJECT_NUMBER</a:t>
            </a:r>
            <a:r>
              <a:rPr lang="en" sz="113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-compute@developer.gserviceaccount.com" \</a:t>
            </a:r>
            <a:br>
              <a:rPr lang="en" sz="113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3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  --role="roles/datastore.user"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ab1ec9fea_0_1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fab1ec9fea_0_1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ab1ec9fea_0_1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ab1ec9fea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2"/>
              </a:rPr>
              <a:t>https://docs.cloud.google.com/iam/docs/roles-permissions/bigquery?utm_source=chatgpt.com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ab1ec9fea_0_1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ab1ec9fea_0_1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gcloud projects</a:t>
            </a:r>
            <a:r>
              <a:rPr lang="en">
                <a:solidFill>
                  <a:schemeClr val="dk1"/>
                </a:solidFill>
              </a:rPr>
              <a:t> add-iam-policy-binding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YOUR_PROJECT_ID:community_analytics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--member="serviceAccount:PROJECT_NUMBER-compute@developer.gserviceaccount.com"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--role="roles/bigquery.dataEditor"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gcloud projects add-iam-policy-binding YOUR_PROJECT_ID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--member="serviceAccount:PROJECT_NUMBER-compute@developer.gserviceaccount.com"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--role="roles/bigquery.jobUser"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9fbf03de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f9fbf03de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gcloud projects add-iam-policy-binding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YOUR_PROJECT_ID:community_analytics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--member="serviceAccount:PROJECT_NUMBER-compute@developer.gserviceaccount.com"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--role="roles/bigquery.dataEditor"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gcloud projects add-iam-policy-binding YOUR_PROJECT_ID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--member="serviceAccount:PROJECT_NUMBER-compute@developer.gserviceaccount.com"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--role="roles/bigquery.jobUser"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9fbf03de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9fbf03de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gcloud projects add-iam-policy-binding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YOUR_PROJECT_ID:community_analytics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--member="serviceAccount:PROJECT_NUMBER-compute@developer.gserviceaccount.com"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--role="roles/bigquery.dataEditor"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gcloud projects add-iam-policy-binding YOUR_PROJECT_ID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--member="serviceAccount:PROJECT_NUMBER-compute@developer.gserviceaccount.com"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--role="roles/bigquery.jobUser"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ab1ec9fea_0_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fab1ec9fea_0_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cd community-project-tracker (If you are not in the file)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gcloud run deploy community-project-tracker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--source .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--region europe-west1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--allow-unauthenticated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--set-env-vars GOOGLE_CLOUD_PROJECT=community-project-tracker,BIGQUERY_DATASET=community_analytics,BIGQUERY_TABLE=participants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ab1ec9fea_0_1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fab1ec9fea_0_1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9fbf03de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f9fbf03de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ab1ec9fea_0_1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fab1ec9fea_0_1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https://community-project-tracker-653862733743.europe-west1.run.app/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ab1ec9fea_0_2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fab1ec9fea_0_2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ab1ec9fea_0_2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fab1ec9fea_0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fab1ec9fea_0_2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fab1ec9fea_0_2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ab1ec9fea_0_2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fab1ec9fea_0_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ab1ec9fea_0_2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fab1ec9fea_0_2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ab1ec9fea_0_2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fab1ec9fea_0_2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SELECT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project_name,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COUNT(*) AS participants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`YOUR_PROJECT_ID.community_analytics.participants`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GROUP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project_name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ORDER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participants DESC;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ab1ec9fea_0_2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fab1ec9fea_0_2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SELECT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project_name,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SUM(hours) AS total_hours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`YOUR_PROJECT_ID.community_analytics.participants`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GROUP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project_name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ORDER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total_hours DESC;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ab1ec9fea_0_2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fab1ec9fea_0_2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Compare categories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introduce a slightly more interesting analytical question: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Which type of community project attracts the most participants?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SELECT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category,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COUNT(*) AS participants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`YOUR_PROJECT_ID.community_analytics.participants`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GROUP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category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ORDER BY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participants DESC;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fab1ec9fea_0_2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fab1ec9fea_0_2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5b542e0f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f5b542e0f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f5b542e0f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f5b542e0f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5b542e0fd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f5b542e0fd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5b542e0fd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f5b542e0fd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5b542e0fd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f5b542e0f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49f7cd067_69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f49f7cd067_69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f49f7cd067_69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f49f7cd067_69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f49f7cd067_69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f49f7cd067_69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487111299_6_0)">
  <p:cSld name="Generated (g3f487111299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hyperlink" Target="https://console.cloud.google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hyperlink" Target="https://docs.cloud.google.com/run/docs/deploying-source-code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Relationship Id="rId4" Type="http://schemas.openxmlformats.org/officeDocument/2006/relationships/image" Target="../media/image7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2.png"/><Relationship Id="rId4" Type="http://schemas.openxmlformats.org/officeDocument/2006/relationships/image" Target="../media/image59.gif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2.png"/><Relationship Id="rId4" Type="http://schemas.openxmlformats.org/officeDocument/2006/relationships/image" Target="../media/image6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4762500" y="762000"/>
            <a:ext cx="3619500" cy="3619500"/>
            <a:chOff x="0" y="0"/>
            <a:chExt cx="3619500" cy="3619500"/>
          </a:xfrm>
        </p:grpSpPr>
        <p:pic>
          <p:nvPicPr>
            <p:cNvPr descr="A highly detailed 3D render of glowing cloud infrastructure, futuristic data pipelines and holographic server nodes in neon blue, green and purple colors, dark tech aesthetic." id="56" name="Google Shape;5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3619500" cy="361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4"/>
            <p:cNvSpPr/>
            <p:nvPr/>
          </p:nvSpPr>
          <p:spPr>
            <a:xfrm>
              <a:off x="0" y="0"/>
              <a:ext cx="3619500" cy="3619500"/>
            </a:xfrm>
            <a:prstGeom prst="roundRect">
              <a:avLst>
                <a:gd fmla="val 6315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14"/>
          <p:cNvSpPr txBox="1"/>
          <p:nvPr/>
        </p:nvSpPr>
        <p:spPr>
          <a:xfrm>
            <a:off x="762000" y="762000"/>
            <a:ext cx="40005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BDF8"/>
                </a:solidFill>
                <a:highlight>
                  <a:srgbClr val="1E293B"/>
                </a:highlight>
                <a:latin typeface="Roboto"/>
                <a:ea typeface="Roboto"/>
                <a:cs typeface="Roboto"/>
                <a:sym typeface="Roboto"/>
              </a:rPr>
              <a:t>WEEKEND WORKSHOP SERIES 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Saturday</a:t>
            </a:r>
            <a:endParaRPr b="1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Google Cloud</a:t>
            </a:r>
            <a:br>
              <a:rPr b="1" lang="en" sz="32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3200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rPr>
              <a:t>Architect Project</a:t>
            </a:r>
            <a:endParaRPr b="1" sz="3200">
              <a:solidFill>
                <a:srgbClr val="3B82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80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hands-on, simple cloud simulation designed for Google Cloud PCA candidates to map, deploy, and evaluate real-world infrastructure.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571500" y="428625"/>
            <a:ext cx="80010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Chiho Sharp</a:t>
            </a:r>
            <a:endParaRPr b="1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38BDF8"/>
                </a:solidFill>
                <a:latin typeface="Roboto Medium"/>
                <a:ea typeface="Roboto Medium"/>
                <a:cs typeface="Roboto Medium"/>
                <a:sym typeface="Roboto Medium"/>
              </a:rPr>
              <a:t> GOOGLE CLOUD CERTIFICATIONS</a:t>
            </a:r>
            <a:endParaRPr b="0" sz="1400">
              <a:solidFill>
                <a:srgbClr val="38BDF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64" name="Google Shape;64;p15"/>
          <p:cNvGrpSpPr/>
          <p:nvPr/>
        </p:nvGrpSpPr>
        <p:grpSpPr>
          <a:xfrm>
            <a:off x="571500" y="1648900"/>
            <a:ext cx="2476500" cy="3143400"/>
            <a:chOff x="0" y="0"/>
            <a:chExt cx="2476500" cy="3143400"/>
          </a:xfrm>
        </p:grpSpPr>
        <p:sp>
          <p:nvSpPr>
            <p:cNvPr id="65" name="Google Shape;65;p15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1876425" y="209550"/>
              <a:ext cx="342900" cy="342900"/>
            </a:xfrm>
            <a:prstGeom prst="ellipse">
              <a:avLst/>
            </a:prstGeom>
            <a:solidFill>
              <a:srgbClr val="F59E0B">
                <a:alpha val="20000"/>
              </a:srgbClr>
            </a:solidFill>
            <a:ln cap="flat" cmpd="sng" w="1430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1876425" y="232918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16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190500" y="28575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59E0B"/>
                  </a:solidFill>
                  <a:latin typeface="Roboto"/>
                  <a:ea typeface="Roboto"/>
                  <a:cs typeface="Roboto"/>
                  <a:sym typeface="Roboto"/>
                </a:rPr>
                <a:t>PROFESSIONAL</a:t>
              </a:r>
              <a:endParaRPr b="1" sz="1000">
                <a:solidFill>
                  <a:srgbClr val="F59E0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Professional Cloud Architect</a:t>
              </a:r>
              <a:endParaRPr b="1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CERT-P-CA</a:t>
              </a:r>
              <a:endParaRPr sz="10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0A5FA"/>
                  </a:solidFill>
                  <a:latin typeface="Roboto"/>
                  <a:ea typeface="Roboto"/>
                  <a:cs typeface="Roboto"/>
                  <a:sym typeface="Roboto"/>
                </a:rPr>
                <a:t>ACTIVE DATE</a:t>
              </a:r>
              <a:endParaRPr b="1" sz="900">
                <a:solidFill>
                  <a:srgbClr val="60A5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2026-06-11</a:t>
              </a:r>
              <a:endParaRPr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EXPIRY DATE</a:t>
              </a:r>
              <a:endParaRPr b="1" sz="9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2028-07-11</a:t>
              </a:r>
              <a:endParaRPr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SERIES ID: 123792</a:t>
              </a:r>
              <a:endParaRPr sz="8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3333750" y="1648900"/>
            <a:ext cx="2476500" cy="3143400"/>
            <a:chOff x="0" y="0"/>
            <a:chExt cx="2476500" cy="31434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876425" y="209550"/>
              <a:ext cx="342900" cy="3429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1876425" y="232918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stars</a:t>
              </a:r>
              <a:endParaRPr sz="16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190500" y="28575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B82F6"/>
                  </a:solidFill>
                  <a:latin typeface="Roboto"/>
                  <a:ea typeface="Roboto"/>
                  <a:cs typeface="Roboto"/>
                  <a:sym typeface="Roboto"/>
                </a:rPr>
                <a:t>ASSOCIATE</a:t>
              </a:r>
              <a:endParaRPr b="1" sz="10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Associate Cloud Engineer</a:t>
              </a:r>
              <a:endParaRPr b="1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CERT-A-ACE</a:t>
              </a:r>
              <a:endParaRPr sz="10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0A5FA"/>
                  </a:solidFill>
                  <a:latin typeface="Roboto"/>
                  <a:ea typeface="Roboto"/>
                  <a:cs typeface="Roboto"/>
                  <a:sym typeface="Roboto"/>
                </a:rPr>
                <a:t>ACTIVE DATE</a:t>
              </a:r>
              <a:endParaRPr b="1" sz="900">
                <a:solidFill>
                  <a:srgbClr val="60A5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2025-10-30</a:t>
              </a:r>
              <a:endParaRPr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EXPIRY DATE</a:t>
              </a:r>
              <a:endParaRPr b="1" sz="9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2028-11-30</a:t>
              </a:r>
              <a:endParaRPr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SERIES ID: 183505</a:t>
              </a:r>
              <a:endParaRPr sz="8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6096000" y="1648900"/>
            <a:ext cx="2476500" cy="3143400"/>
            <a:chOff x="0" y="0"/>
            <a:chExt cx="2476500" cy="31434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876425" y="209550"/>
              <a:ext cx="342900" cy="342900"/>
            </a:xfrm>
            <a:prstGeom prst="ellipse">
              <a:avLst/>
            </a:prstGeom>
            <a:solidFill>
              <a:srgbClr val="10B981">
                <a:alpha val="20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1876425" y="232918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16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190500" y="28575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0B981"/>
                  </a:solidFill>
                  <a:latin typeface="Roboto"/>
                  <a:ea typeface="Roboto"/>
                  <a:cs typeface="Roboto"/>
                  <a:sym typeface="Roboto"/>
                </a:rPr>
                <a:t>FOUNDATIONAL</a:t>
              </a:r>
              <a:endParaRPr b="1" sz="1000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Cloud Digital Leader</a:t>
              </a:r>
              <a:endParaRPr b="1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CERT-FUN-CDL</a:t>
              </a:r>
              <a:endParaRPr sz="10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0A5FA"/>
                  </a:solidFill>
                  <a:latin typeface="Roboto"/>
                  <a:ea typeface="Roboto"/>
                  <a:cs typeface="Roboto"/>
                  <a:sym typeface="Roboto"/>
                </a:rPr>
                <a:t>ACTIVE DATE</a:t>
              </a:r>
              <a:endParaRPr b="1" sz="900">
                <a:solidFill>
                  <a:srgbClr val="60A5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2025-03-31</a:t>
              </a:r>
              <a:endParaRPr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EXPIRY DATE</a:t>
              </a:r>
              <a:endParaRPr b="1" sz="9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2028-04-30</a:t>
              </a:r>
              <a:endParaRPr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SERIES ID: 95438</a:t>
              </a:r>
              <a:endParaRPr sz="8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6"/>
          <p:cNvGrpSpPr/>
          <p:nvPr/>
        </p:nvGrpSpPr>
        <p:grpSpPr>
          <a:xfrm>
            <a:off x="418076" y="499125"/>
            <a:ext cx="4891899" cy="4022133"/>
            <a:chOff x="-335150" y="0"/>
            <a:chExt cx="4802100" cy="3948300"/>
          </a:xfrm>
        </p:grpSpPr>
        <p:sp>
          <p:nvSpPr>
            <p:cNvPr id="87" name="Google Shape;87;p16"/>
            <p:cNvSpPr/>
            <p:nvPr/>
          </p:nvSpPr>
          <p:spPr>
            <a:xfrm>
              <a:off x="0" y="0"/>
              <a:ext cx="40005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-335150" y="0"/>
              <a:ext cx="4802100" cy="39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26">
                  <a:solidFill>
                    <a:srgbClr val="34D399"/>
                  </a:solidFill>
                  <a:highlight>
                    <a:srgbClr val="1E293B"/>
                  </a:highlight>
                  <a:latin typeface="Roboto"/>
                  <a:ea typeface="Roboto"/>
                  <a:cs typeface="Roboto"/>
                  <a:sym typeface="Roboto"/>
                </a:rPr>
                <a:t>PROJECT SCENARIO</a:t>
              </a:r>
              <a:endParaRPr sz="1834">
                <a:solidFill>
                  <a:srgbClr val="34D39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2445"/>
                </a:spcBef>
                <a:spcAft>
                  <a:spcPts val="0"/>
                </a:spcAft>
                <a:buNone/>
              </a:pPr>
              <a:r>
                <a:rPr b="1" lang="en" sz="2343">
                  <a:solidFill>
                    <a:schemeClr val="dk1"/>
                  </a:solidFill>
                  <a:highlight>
                    <a:srgbClr val="F59E0B"/>
                  </a:highlight>
                </a:rPr>
                <a:t>Build a Community Project Tracker Application   </a:t>
              </a:r>
              <a:endParaRPr sz="2445">
                <a:solidFill>
                  <a:schemeClr val="dk1"/>
                </a:solidFill>
                <a:highlight>
                  <a:srgbClr val="F59E0B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11"/>
                </a:spcBef>
                <a:spcAft>
                  <a:spcPts val="0"/>
                </a:spcAft>
                <a:buNone/>
              </a:pPr>
              <a:r>
                <a:rPr b="1" lang="en" sz="1834">
                  <a:solidFill>
                    <a:srgbClr val="34D399"/>
                  </a:solidFill>
                  <a:latin typeface="Roboto"/>
                  <a:ea typeface="Roboto"/>
                  <a:cs typeface="Roboto"/>
                  <a:sym typeface="Roboto"/>
                </a:rPr>
                <a:t>The Challenge</a:t>
              </a:r>
              <a:endParaRPr sz="1834">
                <a:solidFill>
                  <a:srgbClr val="34D39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64"/>
                </a:spcBef>
                <a:spcAft>
                  <a:spcPts val="0"/>
                </a:spcAft>
                <a:buNone/>
              </a:pPr>
              <a:r>
                <a:rPr b="1" lang="en" sz="1834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You client needs your help build a </a:t>
              </a:r>
              <a:r>
                <a:rPr b="1" lang="en" sz="1834" u="sng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project tracker with analytics</a:t>
              </a:r>
              <a:r>
                <a:rPr b="1" lang="en" sz="1834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using Google Cloud Services. </a:t>
              </a:r>
              <a:endParaRPr b="1" sz="183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3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4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You will architect and deploy this solution using </a:t>
              </a:r>
              <a:r>
                <a:rPr b="1" lang="en" sz="1834" u="sng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Cloud Run, Firestore and BigQuery</a:t>
              </a:r>
              <a:r>
                <a:rPr b="1" lang="en" sz="1834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1" sz="183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5122150" y="762000"/>
            <a:ext cx="3238500" cy="3619500"/>
            <a:chOff x="0" y="0"/>
            <a:chExt cx="3238500" cy="3619500"/>
          </a:xfrm>
        </p:grpSpPr>
        <p:pic>
          <p:nvPicPr>
            <p:cNvPr descr="A sleek, minimalist tech design representing a cloud web server delivering calendar timetable data, neon green and blue glowing accents, clean dark futuristic interface, 3D render." id="90" name="Google Shape;90;p16"/>
            <p:cNvPicPr preferRelativeResize="0"/>
            <p:nvPr/>
          </p:nvPicPr>
          <p:blipFill rotWithShape="1">
            <a:blip r:embed="rId4">
              <a:alphaModFix/>
            </a:blip>
            <a:srcRect b="8089" l="0" r="0" t="8089"/>
            <a:stretch/>
          </p:blipFill>
          <p:spPr>
            <a:xfrm>
              <a:off x="0" y="0"/>
              <a:ext cx="3238500" cy="3619500"/>
            </a:xfrm>
            <a:prstGeom prst="roundRect">
              <a:avLst>
                <a:gd fmla="val 4705" name="adj"/>
              </a:avLst>
            </a:prstGeom>
            <a:noFill/>
            <a:ln>
              <a:noFill/>
            </a:ln>
          </p:spPr>
        </p:pic>
        <p:sp>
          <p:nvSpPr>
            <p:cNvPr id="91" name="Google Shape;91;p16"/>
            <p:cNvSpPr/>
            <p:nvPr/>
          </p:nvSpPr>
          <p:spPr>
            <a:xfrm>
              <a:off x="0" y="0"/>
              <a:ext cx="3238500" cy="3619500"/>
            </a:xfrm>
            <a:prstGeom prst="roundRect">
              <a:avLst>
                <a:gd fmla="val 4705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571500" y="428625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The Scenario</a:t>
            </a:r>
            <a:endParaRPr b="1" sz="11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Community Organisation Requirements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7" name="Google Shape;97;p17"/>
          <p:cNvGrpSpPr/>
          <p:nvPr/>
        </p:nvGrpSpPr>
        <p:grpSpPr>
          <a:xfrm>
            <a:off x="571500" y="1428750"/>
            <a:ext cx="3714900" cy="3143400"/>
            <a:chOff x="0" y="0"/>
            <a:chExt cx="3714900" cy="3143400"/>
          </a:xfrm>
        </p:grpSpPr>
        <p:sp>
          <p:nvSpPr>
            <p:cNvPr id="98" name="Google Shape;98;p17"/>
            <p:cNvSpPr/>
            <p:nvPr/>
          </p:nvSpPr>
          <p:spPr>
            <a:xfrm>
              <a:off x="0" y="0"/>
              <a:ext cx="3714900" cy="3143400"/>
            </a:xfrm>
            <a:prstGeom prst="roundRect">
              <a:avLst>
                <a:gd fmla="val 363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228600" y="228600"/>
              <a:ext cx="3257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Diverse Initiatives</a:t>
              </a:r>
              <a:endParaRPr b="1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Example Projects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15240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The organisation runs various active community projects:</a:t>
              </a:r>
              <a:endParaRPr b="0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79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Roboto"/>
                <a:buChar char="●"/>
              </a:pPr>
              <a:r>
                <a:rPr b="0" lang="en" sz="125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Community Table Tennis</a:t>
              </a:r>
              <a:endParaRPr sz="12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Roboto"/>
                <a:buChar char="●"/>
              </a:pPr>
              <a:r>
                <a:rPr b="0" lang="en" sz="125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Children's Sports Club</a:t>
              </a:r>
              <a:endParaRPr sz="12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Roboto"/>
                <a:buChar char="●"/>
              </a:pPr>
              <a:r>
                <a:rPr b="0" lang="en" sz="125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Cooking Workshop</a:t>
              </a:r>
              <a:endParaRPr sz="12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Roboto"/>
                <a:buChar char="●"/>
              </a:pPr>
              <a:r>
                <a:rPr b="0" lang="en" sz="125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Digital Skills Workshop</a:t>
              </a:r>
              <a:endParaRPr sz="12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Roboto"/>
                <a:buChar char="●"/>
              </a:pPr>
              <a:r>
                <a:rPr b="0" lang="en" sz="125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Environmental Project</a:t>
              </a:r>
              <a:endParaRPr sz="12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" name="Google Shape;100;p17"/>
          <p:cNvGrpSpPr/>
          <p:nvPr/>
        </p:nvGrpSpPr>
        <p:grpSpPr>
          <a:xfrm>
            <a:off x="4572000" y="1428750"/>
            <a:ext cx="4000500" cy="3143400"/>
            <a:chOff x="0" y="0"/>
            <a:chExt cx="4000500" cy="3143400"/>
          </a:xfrm>
        </p:grpSpPr>
        <p:sp>
          <p:nvSpPr>
            <p:cNvPr id="101" name="Google Shape;101;p17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363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228600" y="228600"/>
              <a:ext cx="35433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Roboto"/>
                  <a:ea typeface="Roboto"/>
                  <a:cs typeface="Roboto"/>
                  <a:sym typeface="Roboto"/>
                </a:rPr>
                <a:t>Staff Capabilities</a:t>
              </a:r>
              <a:endParaRPr b="1" sz="1100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Application Functions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A simple tool is required to perform these operations:</a:t>
              </a:r>
              <a:endParaRPr b="0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Roboto"/>
                <a:buAutoNum type="arabicPeriod"/>
              </a:pPr>
              <a:r>
                <a:rPr b="0"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Add a community project.</a:t>
              </a:r>
              <a:endParaRPr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Roboto"/>
                <a:buAutoNum type="arabicPeriod"/>
              </a:pPr>
              <a:r>
                <a:rPr b="0"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Register participants.</a:t>
              </a:r>
              <a:endParaRPr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Roboto"/>
                <a:buAutoNum type="arabicPeriod"/>
              </a:pPr>
              <a:r>
                <a:rPr b="0"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Record participant hours.</a:t>
              </a:r>
              <a:endParaRPr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Roboto"/>
                <a:buAutoNum type="arabicPeriod"/>
              </a:pPr>
              <a:r>
                <a:rPr b="0"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View projects and participants.</a:t>
              </a:r>
              <a:endParaRPr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Roboto"/>
                <a:buAutoNum type="arabicPeriod"/>
              </a:pPr>
              <a:r>
                <a:rPr b="1" lang="en" sz="12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Analyze basic statistics with BigQuery.</a:t>
              </a:r>
              <a:endParaRPr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8"/>
          <p:cNvGrpSpPr/>
          <p:nvPr/>
        </p:nvGrpSpPr>
        <p:grpSpPr>
          <a:xfrm>
            <a:off x="571500" y="333375"/>
            <a:ext cx="8001000" cy="857400"/>
            <a:chOff x="0" y="0"/>
            <a:chExt cx="8001000" cy="857400"/>
          </a:xfrm>
        </p:grpSpPr>
        <p:sp>
          <p:nvSpPr>
            <p:cNvPr id="108" name="Google Shape;108;p18"/>
            <p:cNvSpPr/>
            <p:nvPr/>
          </p:nvSpPr>
          <p:spPr>
            <a:xfrm>
              <a:off x="0" y="0"/>
              <a:ext cx="8001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8"/>
            <p:cNvSpPr txBox="1"/>
            <p:nvPr/>
          </p:nvSpPr>
          <p:spPr>
            <a:xfrm>
              <a:off x="0" y="0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Operational vs. Analytical Databases</a:t>
              </a:r>
              <a:endParaRPr b="1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Why not just use Firestore?</a:t>
              </a:r>
              <a:endPara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p18"/>
          <p:cNvGrpSpPr/>
          <p:nvPr/>
        </p:nvGrpSpPr>
        <p:grpSpPr>
          <a:xfrm>
            <a:off x="571500" y="904875"/>
            <a:ext cx="8001000" cy="362100"/>
            <a:chOff x="0" y="0"/>
            <a:chExt cx="8001000" cy="362100"/>
          </a:xfrm>
        </p:grpSpPr>
        <p:sp>
          <p:nvSpPr>
            <p:cNvPr id="111" name="Google Shape;111;p18"/>
            <p:cNvSpPr/>
            <p:nvPr/>
          </p:nvSpPr>
          <p:spPr>
            <a:xfrm>
              <a:off x="0" y="0"/>
              <a:ext cx="8001000" cy="362100"/>
            </a:xfrm>
            <a:prstGeom prst="roundRect">
              <a:avLst>
                <a:gd fmla="val 1578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8"/>
            <p:cNvSpPr txBox="1"/>
            <p:nvPr/>
          </p:nvSpPr>
          <p:spPr>
            <a:xfrm>
              <a:off x="0" y="0"/>
              <a:ext cx="8001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524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7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"If Firestore already stores our data, why do we need BigQuery?"</a:t>
              </a:r>
              <a:endParaRPr b="1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" name="Google Shape;113;p18"/>
          <p:cNvGrpSpPr/>
          <p:nvPr/>
        </p:nvGrpSpPr>
        <p:grpSpPr>
          <a:xfrm>
            <a:off x="571500" y="1428750"/>
            <a:ext cx="3810000" cy="3238500"/>
            <a:chOff x="0" y="0"/>
            <a:chExt cx="3810000" cy="3238500"/>
          </a:xfrm>
        </p:grpSpPr>
        <p:sp>
          <p:nvSpPr>
            <p:cNvPr id="114" name="Google Shape;114;p18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0" y="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59E0B"/>
                  </a:solidFill>
                  <a:latin typeface="Roboto"/>
                  <a:ea typeface="Roboto"/>
                  <a:cs typeface="Roboto"/>
                  <a:sym typeface="Roboto"/>
                </a:rPr>
                <a:t>Operational Store</a:t>
              </a:r>
              <a:endParaRPr b="1">
                <a:solidFill>
                  <a:srgbClr val="F59E0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Firestore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Excellent for individual, fast application records:</a:t>
              </a:r>
              <a:endParaRPr b="0" sz="12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Project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name • category • description</a:t>
              </a:r>
              <a:endParaRPr sz="12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Participant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name • project • hours • date</a:t>
              </a:r>
              <a:endParaRPr sz="12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p18"/>
          <p:cNvGrpSpPr/>
          <p:nvPr/>
        </p:nvGrpSpPr>
        <p:grpSpPr>
          <a:xfrm>
            <a:off x="4762500" y="1428750"/>
            <a:ext cx="3810000" cy="3238500"/>
            <a:chOff x="0" y="0"/>
            <a:chExt cx="3810000" cy="3238500"/>
          </a:xfrm>
        </p:grpSpPr>
        <p:sp>
          <p:nvSpPr>
            <p:cNvPr id="117" name="Google Shape;117;p18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8"/>
            <p:cNvSpPr txBox="1"/>
            <p:nvPr/>
          </p:nvSpPr>
          <p:spPr>
            <a:xfrm>
              <a:off x="0" y="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0B981"/>
                  </a:solidFill>
                  <a:latin typeface="Roboto"/>
                  <a:ea typeface="Roboto"/>
                  <a:cs typeface="Roboto"/>
                  <a:sym typeface="Roboto"/>
                </a:rPr>
                <a:t>Analytics Engine</a:t>
              </a:r>
              <a:endParaRPr b="1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Designed for large-scale, complex historical queries:</a:t>
              </a:r>
              <a:endParaRPr b="0" sz="12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0B981"/>
                  </a:solidFill>
                  <a:latin typeface="Roboto"/>
                  <a:ea typeface="Roboto"/>
                  <a:cs typeface="Roboto"/>
                  <a:sym typeface="Roboto"/>
                </a:rPr>
                <a:t>Analytics Questions:</a:t>
              </a:r>
              <a:endParaRPr b="1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"Show me participation by project over the last 12 months."</a:t>
              </a:r>
              <a:endParaRPr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"Which project had the highest average volunteer hours?"</a:t>
              </a:r>
              <a:endParaRPr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"How many participants did we have each month?"</a:t>
              </a:r>
              <a:endParaRPr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4572000" y="609400"/>
            <a:ext cx="3826200" cy="666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Application Architecture</a:t>
            </a:r>
            <a:endParaRPr b="1" sz="12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Community Project Tracker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4" name="Google Shape;124;p19"/>
          <p:cNvGrpSpPr/>
          <p:nvPr/>
        </p:nvGrpSpPr>
        <p:grpSpPr>
          <a:xfrm>
            <a:off x="511250" y="1921025"/>
            <a:ext cx="4191000" cy="2952675"/>
            <a:chOff x="571500" y="1333500"/>
            <a:chExt cx="4191000" cy="2952675"/>
          </a:xfrm>
        </p:grpSpPr>
        <p:sp>
          <p:nvSpPr>
            <p:cNvPr id="125" name="Google Shape;125;p19"/>
            <p:cNvSpPr/>
            <p:nvPr/>
          </p:nvSpPr>
          <p:spPr>
            <a:xfrm>
              <a:off x="2000250" y="1333500"/>
              <a:ext cx="1333500" cy="4764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 txBox="1"/>
            <p:nvPr/>
          </p:nvSpPr>
          <p:spPr>
            <a:xfrm>
              <a:off x="2000250" y="133350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USER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1619250" y="2286000"/>
              <a:ext cx="2095500" cy="714300"/>
            </a:xfrm>
            <a:prstGeom prst="roundRect">
              <a:avLst>
                <a:gd fmla="val 10666" name="adj"/>
              </a:avLst>
            </a:prstGeom>
            <a:solidFill>
              <a:srgbClr val="1E293B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 txBox="1"/>
            <p:nvPr/>
          </p:nvSpPr>
          <p:spPr>
            <a:xfrm>
              <a:off x="1619250" y="2286000"/>
              <a:ext cx="2095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524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r>
                <a:rPr b="1" lang="en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Web Application</a:t>
              </a:r>
              <a:endParaRPr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571500" y="3571875"/>
              <a:ext cx="1905000" cy="714300"/>
            </a:xfrm>
            <a:prstGeom prst="roundRect">
              <a:avLst>
                <a:gd fmla="val 10666" name="adj"/>
              </a:avLst>
            </a:prstGeom>
            <a:solidFill>
              <a:srgbClr val="1E293B"/>
            </a:solidFill>
            <a:ln cap="flat" cmpd="sng" w="1430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 txBox="1"/>
            <p:nvPr/>
          </p:nvSpPr>
          <p:spPr>
            <a:xfrm>
              <a:off x="571500" y="3571875"/>
              <a:ext cx="1905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524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r>
                <a:rPr b="1" lang="en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Firestore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Application Data</a:t>
              </a:r>
              <a:endParaRPr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2857500" y="3571875"/>
              <a:ext cx="1905000" cy="714300"/>
            </a:xfrm>
            <a:prstGeom prst="roundRect">
              <a:avLst>
                <a:gd fmla="val 10666" name="adj"/>
              </a:avLst>
            </a:prstGeom>
            <a:solidFill>
              <a:srgbClr val="1E293B"/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 txBox="1"/>
            <p:nvPr/>
          </p:nvSpPr>
          <p:spPr>
            <a:xfrm>
              <a:off x="2857500" y="3571875"/>
              <a:ext cx="1905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524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r>
                <a:rPr b="1" lang="en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Analytics Engine</a:t>
              </a:r>
              <a:endParaRPr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2667000" y="1809750"/>
              <a:ext cx="0" cy="400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2619375" y="219075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1524000" y="3000375"/>
              <a:ext cx="2286000" cy="4953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69231"/>
                  </a:lnTo>
                  <a:moveTo>
                    <a:pt x="0" y="69231"/>
                  </a:moveTo>
                  <a:lnTo>
                    <a:pt x="120000" y="69231"/>
                  </a:lnTo>
                  <a:moveTo>
                    <a:pt x="0" y="69231"/>
                  </a:moveTo>
                  <a:lnTo>
                    <a:pt x="0" y="120000"/>
                  </a:lnTo>
                  <a:moveTo>
                    <a:pt x="120000" y="69231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1476375" y="347662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3762375" y="347662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9"/>
          <p:cNvSpPr txBox="1"/>
          <p:nvPr/>
        </p:nvSpPr>
        <p:spPr>
          <a:xfrm>
            <a:off x="5115575" y="1921063"/>
            <a:ext cx="3606600" cy="29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Component Roles</a:t>
            </a:r>
            <a:endParaRPr b="1" sz="11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Executes the web application logic containerized and scales dynamically based on traffic.</a:t>
            </a:r>
            <a:endParaRPr sz="11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Firestore</a:t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Stores flexible, document-based operational records for projects and participants.</a:t>
            </a:r>
            <a:endParaRPr sz="11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Ingests, processes, and runs complex queries on analytical tracking data.</a:t>
            </a:r>
            <a:endParaRPr sz="11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38BDF8"/>
                </a:solidFill>
                <a:highlight>
                  <a:srgbClr val="1E293B"/>
                </a:highlight>
                <a:latin typeface="Roboto"/>
                <a:ea typeface="Roboto"/>
                <a:cs typeface="Roboto"/>
                <a:sym typeface="Roboto"/>
              </a:rPr>
              <a:t>Direct Source Deployment</a:t>
            </a:r>
            <a:endParaRPr b="1" sz="950">
              <a:solidFill>
                <a:srgbClr val="38BDF8"/>
              </a:solidFill>
              <a:highlight>
                <a:srgbClr val="1E293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0B981"/>
                </a:solidFill>
                <a:highlight>
                  <a:srgbClr val="0B0F19"/>
                </a:highlight>
                <a:latin typeface="Courier New"/>
                <a:ea typeface="Courier New"/>
                <a:cs typeface="Courier New"/>
                <a:sym typeface="Courier New"/>
              </a:rPr>
              <a:t>gcloud run deploy --source</a:t>
            </a:r>
            <a:endParaRPr b="1" sz="1100">
              <a:solidFill>
                <a:srgbClr val="10B981"/>
              </a:solidFill>
              <a:highlight>
                <a:srgbClr val="0B0F19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0575" y="387175"/>
            <a:ext cx="45000" cy="1191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38BDF8"/>
              </a:gs>
              <a:gs pos="100000">
                <a:srgbClr val="3B82F6"/>
              </a:gs>
            </a:gsLst>
            <a:lin ang="540001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637066" y="387175"/>
            <a:ext cx="3440100" cy="1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95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Interactive Workshop</a:t>
            </a:r>
            <a:endParaRPr b="1" sz="1095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69"/>
              </a:spcBef>
              <a:spcAft>
                <a:spcPts val="0"/>
              </a:spcAft>
              <a:buNone/>
            </a:pPr>
            <a:r>
              <a:rPr b="0" lang="en" sz="438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Let’s build it!</a:t>
            </a:r>
            <a:endParaRPr b="0" sz="438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704"/>
              </a:spcBef>
              <a:spcAft>
                <a:spcPts val="0"/>
              </a:spcAft>
              <a:buNone/>
            </a:pPr>
            <a:r>
              <a:rPr b="0" lang="en" sz="1877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Plan and Map</a:t>
            </a:r>
            <a:endParaRPr b="0" sz="1877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571500" y="333375"/>
            <a:ext cx="76200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Workshop Objectives</a:t>
            </a:r>
            <a:endParaRPr b="1" sz="19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 the end of this session, you should be able to explain:</a:t>
            </a:r>
            <a:endParaRPr b="1" sz="2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1050350" y="1276913"/>
            <a:ext cx="329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4D399"/>
                </a:solidFill>
                <a:latin typeface="Roboto"/>
                <a:ea typeface="Roboto"/>
                <a:cs typeface="Roboto"/>
                <a:sym typeface="Roboto"/>
              </a:rPr>
              <a:t>Google Cloud Concepts</a:t>
            </a:r>
            <a:endParaRPr b="1" sz="2000">
              <a:solidFill>
                <a:srgbClr val="34D3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5786775" y="1279200"/>
            <a:ext cx="2687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Architecture Concept</a:t>
            </a:r>
            <a:endParaRPr b="1" sz="2000">
              <a:solidFill>
                <a:srgbClr val="FBBF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750"/>
              </a:spcBef>
              <a:spcAft>
                <a:spcPts val="1125"/>
              </a:spcAft>
              <a:buNone/>
            </a:pPr>
            <a:r>
              <a:t/>
            </a:r>
            <a:endParaRPr b="0" sz="185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253075" y="1639375"/>
            <a:ext cx="2453700" cy="335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a Google Cloud project is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a managed service is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serverless means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Cloud Run does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a database does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2706763" y="1639350"/>
            <a:ext cx="2453700" cy="335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Firestore is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an API is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an application communicates with a database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Basic IAM/service identity concepts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Analytics using BigQuery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5604375" y="1746525"/>
            <a:ext cx="3051900" cy="314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 user sends a request to Cloud Run. </a:t>
            </a:r>
            <a:endParaRPr sz="175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Cloud Run runs the application. </a:t>
            </a:r>
            <a:endParaRPr sz="175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application sends the feedback to Firestore, which stores data.</a:t>
            </a:r>
            <a:endParaRPr sz="175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Analyse the data with BigQuery</a:t>
            </a:r>
            <a:endParaRPr sz="175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1"/>
          <p:cNvGrpSpPr/>
          <p:nvPr/>
        </p:nvGrpSpPr>
        <p:grpSpPr>
          <a:xfrm>
            <a:off x="381000" y="381000"/>
            <a:ext cx="4953000" cy="571500"/>
            <a:chOff x="0" y="0"/>
            <a:chExt cx="4953000" cy="571500"/>
          </a:xfrm>
        </p:grpSpPr>
        <p:sp>
          <p:nvSpPr>
            <p:cNvPr id="156" name="Google Shape;156;p21"/>
            <p:cNvSpPr/>
            <p:nvPr/>
          </p:nvSpPr>
          <p:spPr>
            <a:xfrm>
              <a:off x="0" y="0"/>
              <a:ext cx="4953000" cy="571500"/>
            </a:xfrm>
            <a:prstGeom prst="roundRect">
              <a:avLst>
                <a:gd fmla="val 13333" name="adj"/>
              </a:avLst>
            </a:prstGeom>
            <a:solidFill>
              <a:srgbClr val="60A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1"/>
            <p:cNvSpPr txBox="1"/>
            <p:nvPr/>
          </p:nvSpPr>
          <p:spPr>
            <a:xfrm>
              <a:off x="0" y="0"/>
              <a:ext cx="4953000" cy="5715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-3556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AutoNum type="arabicPeriod"/>
              </a:pPr>
              <a:r>
                <a:rPr b="1" lang="en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Create the Google Cloud project</a:t>
              </a:r>
              <a:endParaRPr b="1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21"/>
          <p:cNvGrpSpPr/>
          <p:nvPr/>
        </p:nvGrpSpPr>
        <p:grpSpPr>
          <a:xfrm>
            <a:off x="381000" y="1333500"/>
            <a:ext cx="1905000" cy="2286000"/>
            <a:chOff x="0" y="0"/>
            <a:chExt cx="1905000" cy="2286000"/>
          </a:xfrm>
        </p:grpSpPr>
        <p:sp>
          <p:nvSpPr>
            <p:cNvPr id="159" name="Google Shape;159;p21"/>
            <p:cNvSpPr/>
            <p:nvPr/>
          </p:nvSpPr>
          <p:spPr>
            <a:xfrm>
              <a:off x="0" y="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11111"/>
            </a:solidFill>
            <a:ln cap="flat" cmpd="sng" w="143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1"/>
            <p:cNvSpPr txBox="1"/>
            <p:nvPr/>
          </p:nvSpPr>
          <p:spPr>
            <a:xfrm>
              <a:off x="0" y="0"/>
              <a:ext cx="1905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28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Go to the </a:t>
              </a:r>
              <a:r>
                <a:rPr b="0" lang="en" sz="2100" u="sng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Google Cloud Console</a:t>
              </a:r>
              <a:r>
                <a:rPr b="0" lang="en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21"/>
          <p:cNvGrpSpPr/>
          <p:nvPr/>
        </p:nvGrpSpPr>
        <p:grpSpPr>
          <a:xfrm>
            <a:off x="2514600" y="1333500"/>
            <a:ext cx="1905000" cy="2286000"/>
            <a:chOff x="0" y="0"/>
            <a:chExt cx="1905000" cy="2286000"/>
          </a:xfrm>
        </p:grpSpPr>
        <p:sp>
          <p:nvSpPr>
            <p:cNvPr id="162" name="Google Shape;162;p21"/>
            <p:cNvSpPr/>
            <p:nvPr/>
          </p:nvSpPr>
          <p:spPr>
            <a:xfrm>
              <a:off x="0" y="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11111"/>
            </a:solidFill>
            <a:ln cap="flat" cmpd="sng" w="143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0" y="0"/>
              <a:ext cx="1905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28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 the top of the screen, click the </a:t>
              </a:r>
              <a:r>
                <a:rPr b="1" lang="en" sz="18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project selector</a:t>
              </a:r>
              <a:r>
                <a:rPr b="0" lang="en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21"/>
          <p:cNvGrpSpPr/>
          <p:nvPr/>
        </p:nvGrpSpPr>
        <p:grpSpPr>
          <a:xfrm>
            <a:off x="4648200" y="1333500"/>
            <a:ext cx="1905000" cy="2286000"/>
            <a:chOff x="0" y="0"/>
            <a:chExt cx="1905000" cy="2286000"/>
          </a:xfrm>
        </p:grpSpPr>
        <p:sp>
          <p:nvSpPr>
            <p:cNvPr id="165" name="Google Shape;165;p21"/>
            <p:cNvSpPr/>
            <p:nvPr/>
          </p:nvSpPr>
          <p:spPr>
            <a:xfrm>
              <a:off x="0" y="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11111"/>
            </a:solidFill>
            <a:ln cap="flat" cmpd="sng" w="143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0" y="0"/>
              <a:ext cx="1905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28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Click:</a:t>
              </a:r>
              <a:br>
                <a:rPr b="0" lang="en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22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New Project</a:t>
              </a:r>
              <a:endParaRPr b="0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21"/>
          <p:cNvGrpSpPr/>
          <p:nvPr/>
        </p:nvGrpSpPr>
        <p:grpSpPr>
          <a:xfrm>
            <a:off x="6643325" y="1333500"/>
            <a:ext cx="2312400" cy="2379900"/>
            <a:chOff x="-138475" y="0"/>
            <a:chExt cx="2312400" cy="2379900"/>
          </a:xfrm>
        </p:grpSpPr>
        <p:sp>
          <p:nvSpPr>
            <p:cNvPr id="168" name="Google Shape;168;p21"/>
            <p:cNvSpPr/>
            <p:nvPr/>
          </p:nvSpPr>
          <p:spPr>
            <a:xfrm>
              <a:off x="0" y="0"/>
              <a:ext cx="1905000" cy="2286000"/>
            </a:xfrm>
            <a:prstGeom prst="roundRect">
              <a:avLst>
                <a:gd fmla="val 6000" name="adj"/>
              </a:avLst>
            </a:prstGeom>
            <a:solidFill>
              <a:srgbClr val="111111"/>
            </a:solidFill>
            <a:ln cap="flat" cmpd="sng" w="143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1"/>
            <p:cNvSpPr txBox="1"/>
            <p:nvPr/>
          </p:nvSpPr>
          <p:spPr>
            <a:xfrm>
              <a:off x="-138475" y="0"/>
              <a:ext cx="2312400" cy="237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59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259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91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Give it a name such as:</a:t>
              </a:r>
              <a:br>
                <a:rPr b="0" lang="en" sz="191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910">
                  <a:solidFill>
                    <a:srgbClr val="FFAB40"/>
                  </a:solidFill>
                  <a:highlight>
                    <a:srgbClr val="222222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r>
                <a:rPr b="1" lang="en" sz="1910">
                  <a:solidFill>
                    <a:srgbClr val="FFAB40"/>
                  </a:solidFill>
                  <a:highlight>
                    <a:srgbClr val="222222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ommunity-</a:t>
              </a:r>
              <a:endParaRPr b="1" sz="1910">
                <a:solidFill>
                  <a:srgbClr val="FFAB40"/>
                </a:solidFill>
                <a:highlight>
                  <a:srgbClr val="222222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10">
                  <a:solidFill>
                    <a:srgbClr val="FFAB40"/>
                  </a:solidFill>
                  <a:highlight>
                    <a:srgbClr val="222222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project-tracker</a:t>
              </a:r>
              <a:endParaRPr b="0" sz="19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21"/>
          <p:cNvGrpSpPr/>
          <p:nvPr/>
        </p:nvGrpSpPr>
        <p:grpSpPr>
          <a:xfrm>
            <a:off x="381000" y="3905250"/>
            <a:ext cx="8305800" cy="666900"/>
            <a:chOff x="0" y="0"/>
            <a:chExt cx="8305800" cy="666900"/>
          </a:xfrm>
        </p:grpSpPr>
        <p:sp>
          <p:nvSpPr>
            <p:cNvPr id="171" name="Google Shape;171;p21"/>
            <p:cNvSpPr/>
            <p:nvPr/>
          </p:nvSpPr>
          <p:spPr>
            <a:xfrm>
              <a:off x="0" y="0"/>
              <a:ext cx="8305800" cy="666900"/>
            </a:xfrm>
            <a:prstGeom prst="roundRect">
              <a:avLst>
                <a:gd fmla="val 17142" name="adj"/>
              </a:avLst>
            </a:prstGeom>
            <a:solidFill>
              <a:srgbClr val="FFAB40">
                <a:alpha val="10000"/>
              </a:srgbClr>
            </a:solidFill>
            <a:ln cap="flat" cmpd="sng" w="14300">
              <a:solidFill>
                <a:srgbClr val="FFAB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 txBox="1"/>
            <p:nvPr/>
          </p:nvSpPr>
          <p:spPr>
            <a:xfrm>
              <a:off x="0" y="0"/>
              <a:ext cx="8305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000000"/>
                  </a:solidFill>
                  <a:highlight>
                    <a:srgbClr val="FFAB40"/>
                  </a:highlight>
                  <a:latin typeface="Arial"/>
                  <a:ea typeface="Arial"/>
                  <a:cs typeface="Arial"/>
                  <a:sym typeface="Arial"/>
                </a:rPr>
                <a:t>NOTE</a:t>
              </a:r>
              <a:r>
                <a:rPr lang="en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Google will create a unique </a:t>
              </a:r>
              <a:r>
                <a:rPr b="1" lang="en" sz="25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Project ID</a:t>
              </a:r>
              <a:r>
                <a:rPr lang="en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270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155850" y="88550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2672"/>
              <a:buNone/>
            </a:pPr>
            <a:r>
              <a:rPr lang="en" sz="2320"/>
              <a:t>Search</a:t>
            </a:r>
            <a:r>
              <a:rPr lang="en" sz="2320">
                <a:highlight>
                  <a:srgbClr val="FFD966"/>
                </a:highlight>
              </a:rPr>
              <a:t> “Billing Account Manager”</a:t>
            </a:r>
            <a:r>
              <a:rPr lang="en" sz="2320"/>
              <a:t> and click </a:t>
            </a:r>
            <a:r>
              <a:rPr lang="en" sz="2320">
                <a:highlight>
                  <a:srgbClr val="FFE599"/>
                </a:highlight>
              </a:rPr>
              <a:t>t</a:t>
            </a:r>
            <a:r>
              <a:rPr lang="en" sz="2320">
                <a:highlight>
                  <a:srgbClr val="FFD966"/>
                </a:highlight>
              </a:rPr>
              <a:t>hree dots</a:t>
            </a:r>
            <a:r>
              <a:rPr lang="en" sz="2320"/>
              <a:t> to </a:t>
            </a:r>
            <a:r>
              <a:rPr lang="en" sz="2320">
                <a:highlight>
                  <a:srgbClr val="FFD966"/>
                </a:highlight>
              </a:rPr>
              <a:t>enable billing</a:t>
            </a:r>
            <a:endParaRPr sz="2320">
              <a:highlight>
                <a:srgbClr val="FFD966"/>
              </a:highlight>
            </a:endParaRPr>
          </a:p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740375"/>
            <a:ext cx="8832302" cy="424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3324082" y="2886833"/>
            <a:ext cx="1168400" cy="882675"/>
          </a:xfrm>
          <a:custGeom>
            <a:rect b="b" l="l" r="r" t="t"/>
            <a:pathLst>
              <a:path extrusionOk="0" h="35307" w="46736">
                <a:moveTo>
                  <a:pt x="19709" y="31484"/>
                </a:moveTo>
                <a:cubicBezTo>
                  <a:pt x="14906" y="34687"/>
                  <a:pt x="6646" y="33117"/>
                  <a:pt x="2564" y="29035"/>
                </a:cubicBezTo>
                <a:cubicBezTo>
                  <a:pt x="-2946" y="23525"/>
                  <a:pt x="1953" y="11685"/>
                  <a:pt x="7463" y="6175"/>
                </a:cubicBezTo>
                <a:cubicBezTo>
                  <a:pt x="13505" y="133"/>
                  <a:pt x="25129" y="-1729"/>
                  <a:pt x="32772" y="2093"/>
                </a:cubicBezTo>
                <a:cubicBezTo>
                  <a:pt x="37260" y="4337"/>
                  <a:pt x="40654" y="8342"/>
                  <a:pt x="44202" y="11890"/>
                </a:cubicBezTo>
                <a:cubicBezTo>
                  <a:pt x="46903" y="14591"/>
                  <a:pt x="47717" y="20617"/>
                  <a:pt x="45018" y="23320"/>
                </a:cubicBezTo>
                <a:cubicBezTo>
                  <a:pt x="41016" y="27327"/>
                  <a:pt x="35143" y="29113"/>
                  <a:pt x="31139" y="33117"/>
                </a:cubicBezTo>
                <a:cubicBezTo>
                  <a:pt x="26901" y="37355"/>
                  <a:pt x="19171" y="33933"/>
                  <a:pt x="13178" y="33933"/>
                </a:cubicBezTo>
              </a:path>
            </a:pathLst>
          </a:cu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32" y="0"/>
            <a:ext cx="885933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1497500" y="544550"/>
            <a:ext cx="2087400" cy="1270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Click here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4"/>
          <p:cNvPicPr preferRelativeResize="0"/>
          <p:nvPr/>
        </p:nvPicPr>
        <p:blipFill rotWithShape="1">
          <a:blip r:embed="rId3">
            <a:alphaModFix/>
          </a:blip>
          <a:srcRect b="0" l="1787" r="0" t="2477"/>
          <a:stretch/>
        </p:blipFill>
        <p:spPr>
          <a:xfrm>
            <a:off x="907575" y="558025"/>
            <a:ext cx="7199623" cy="40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/>
          <p:nvPr/>
        </p:nvSpPr>
        <p:spPr>
          <a:xfrm>
            <a:off x="6761575" y="782800"/>
            <a:ext cx="1588200" cy="2983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Click here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625" y="152400"/>
            <a:ext cx="696073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/>
          <p:nvPr/>
        </p:nvSpPr>
        <p:spPr>
          <a:xfrm>
            <a:off x="2348375" y="3811900"/>
            <a:ext cx="2223600" cy="1179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Click here</a:t>
            </a:r>
            <a:endParaRPr b="1" sz="1600"/>
          </a:p>
        </p:txBody>
      </p:sp>
      <p:sp>
        <p:nvSpPr>
          <p:cNvPr id="201" name="Google Shape;201;p25"/>
          <p:cNvSpPr/>
          <p:nvPr/>
        </p:nvSpPr>
        <p:spPr>
          <a:xfrm>
            <a:off x="3914000" y="2044200"/>
            <a:ext cx="2643300" cy="1055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Name your project</a:t>
            </a:r>
            <a:endParaRPr b="1" sz="1600"/>
          </a:p>
        </p:txBody>
      </p:sp>
      <p:sp>
        <p:nvSpPr>
          <p:cNvPr id="202" name="Google Shape;202;p25"/>
          <p:cNvSpPr/>
          <p:nvPr/>
        </p:nvSpPr>
        <p:spPr>
          <a:xfrm>
            <a:off x="1536550" y="2462550"/>
            <a:ext cx="2327400" cy="21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community-project-tracker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773" y="68050"/>
            <a:ext cx="503275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/>
          <p:nvPr/>
        </p:nvSpPr>
        <p:spPr>
          <a:xfrm>
            <a:off x="6182975" y="340350"/>
            <a:ext cx="2881500" cy="15885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You can see a new notification.</a:t>
            </a:r>
            <a:endParaRPr b="1" sz="1800"/>
          </a:p>
        </p:txBody>
      </p:sp>
      <p:sp>
        <p:nvSpPr>
          <p:cNvPr id="209" name="Google Shape;209;p26"/>
          <p:cNvSpPr/>
          <p:nvPr/>
        </p:nvSpPr>
        <p:spPr>
          <a:xfrm>
            <a:off x="6727525" y="2654700"/>
            <a:ext cx="1860600" cy="129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Close the notifications by clicking the section</a:t>
            </a:r>
            <a:r>
              <a:rPr lang="en"/>
              <a:t>.</a:t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2726625" y="933975"/>
            <a:ext cx="2327400" cy="21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community-project-tracker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475" y="152400"/>
            <a:ext cx="4734519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/>
          <p:nvPr/>
        </p:nvSpPr>
        <p:spPr>
          <a:xfrm rot="1997536">
            <a:off x="3940492" y="605178"/>
            <a:ext cx="3643220" cy="214449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Open Cloud Shell</a:t>
            </a:r>
            <a:endParaRPr b="1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17"/>
            <a:ext cx="9144001" cy="372596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/>
          <p:nvPr/>
        </p:nvSpPr>
        <p:spPr>
          <a:xfrm>
            <a:off x="6483300" y="635325"/>
            <a:ext cx="2660700" cy="2405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Click here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Make sure you are in the correct project ID.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1279400" y="1749350"/>
            <a:ext cx="2357400" cy="48900"/>
          </a:xfrm>
          <a:prstGeom prst="rect">
            <a:avLst/>
          </a:prstGeom>
          <a:solidFill>
            <a:srgbClr val="EF4444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/>
          <p:nvPr/>
        </p:nvSpPr>
        <p:spPr>
          <a:xfrm>
            <a:off x="3919350" y="3353150"/>
            <a:ext cx="828300" cy="1248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9"/>
          <p:cNvPicPr preferRelativeResize="0"/>
          <p:nvPr/>
        </p:nvPicPr>
        <p:blipFill rotWithShape="1">
          <a:blip r:embed="rId3">
            <a:alphaModFix/>
          </a:blip>
          <a:srcRect b="37297" l="0" r="0" t="4591"/>
          <a:stretch/>
        </p:blipFill>
        <p:spPr>
          <a:xfrm>
            <a:off x="101400" y="1425600"/>
            <a:ext cx="8839198" cy="12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/>
          <p:nvPr/>
        </p:nvSpPr>
        <p:spPr>
          <a:xfrm>
            <a:off x="2891700" y="2891700"/>
            <a:ext cx="2883600" cy="32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our-cursor-507508-c1</a:t>
            </a:r>
            <a:endParaRPr/>
          </a:p>
        </p:txBody>
      </p:sp>
      <p:cxnSp>
        <p:nvCxnSpPr>
          <p:cNvPr id="234" name="Google Shape;234;p29"/>
          <p:cNvCxnSpPr/>
          <p:nvPr/>
        </p:nvCxnSpPr>
        <p:spPr>
          <a:xfrm flipH="1" rot="10800000">
            <a:off x="1312200" y="1903500"/>
            <a:ext cx="2114100" cy="16200"/>
          </a:xfrm>
          <a:prstGeom prst="straightConnector1">
            <a:avLst/>
          </a:prstGeom>
          <a:noFill/>
          <a:ln cap="flat" cmpd="sng" w="38100">
            <a:solidFill>
              <a:srgbClr val="EF444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/>
        </p:nvSpPr>
        <p:spPr>
          <a:xfrm>
            <a:off x="578350" y="440000"/>
            <a:ext cx="3436200" cy="5016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2. </a:t>
            </a:r>
            <a:r>
              <a:rPr b="1" lang="en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the APIs</a:t>
            </a:r>
            <a:endParaRPr b="1" sz="2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FBB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FBB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530000" y="1807650"/>
            <a:ext cx="1826100" cy="25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1. </a:t>
            </a:r>
            <a:r>
              <a:rPr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</a:t>
            </a:r>
            <a:r>
              <a:rPr b="0"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loud run</a:t>
            </a:r>
            <a:endParaRPr b="0" sz="2400">
              <a:solidFill>
                <a:srgbClr val="38BDF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8BDF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4D399"/>
                </a:solidFill>
                <a:highlight>
                  <a:srgbClr val="0F172A"/>
                </a:highlight>
                <a:latin typeface="Arial"/>
                <a:ea typeface="Arial"/>
                <a:cs typeface="Arial"/>
                <a:sym typeface="Arial"/>
              </a:rPr>
              <a:t>gcloud services enable run.googleapis.c</a:t>
            </a:r>
            <a:r>
              <a:rPr lang="en" sz="2000">
                <a:solidFill>
                  <a:srgbClr val="34D399"/>
                </a:solidFill>
                <a:highlight>
                  <a:srgbClr val="0F172A"/>
                </a:highlight>
                <a:latin typeface="Arial"/>
                <a:ea typeface="Arial"/>
                <a:cs typeface="Arial"/>
                <a:sym typeface="Arial"/>
              </a:rPr>
              <a:t>om</a:t>
            </a:r>
            <a:endParaRPr sz="2000">
              <a:solidFill>
                <a:srgbClr val="34D399"/>
              </a:solidFill>
              <a:highlight>
                <a:srgbClr val="0F172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6817900" y="1844000"/>
            <a:ext cx="2084400" cy="25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r>
              <a:rPr b="0"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.Cloud Build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4D399"/>
                </a:solidFill>
                <a:highlight>
                  <a:srgbClr val="0F172A"/>
                </a:highlight>
                <a:latin typeface="Arial"/>
                <a:ea typeface="Arial"/>
                <a:cs typeface="Arial"/>
                <a:sym typeface="Arial"/>
              </a:rPr>
              <a:t>gcloud services enable cloudbuild.googleapis.com</a:t>
            </a:r>
            <a:endParaRPr sz="2000">
              <a:solidFill>
                <a:srgbClr val="34D399"/>
              </a:solidFill>
              <a:highlight>
                <a:srgbClr val="0F172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2542675" y="1625425"/>
            <a:ext cx="1826100" cy="27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r>
              <a:rPr b="0"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. </a:t>
            </a:r>
            <a:r>
              <a:rPr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Firestore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4D399"/>
                </a:solidFill>
                <a:highlight>
                  <a:srgbClr val="0F172A"/>
                </a:highlight>
                <a:latin typeface="Arial"/>
                <a:ea typeface="Arial"/>
                <a:cs typeface="Arial"/>
                <a:sym typeface="Arial"/>
              </a:rPr>
              <a:t>gcloud services enable firestore.googleapis.com</a:t>
            </a:r>
            <a:endParaRPr sz="2000">
              <a:solidFill>
                <a:srgbClr val="34D399"/>
              </a:solidFill>
              <a:highlight>
                <a:srgbClr val="0F172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530000" y="1306050"/>
            <a:ext cx="6988500" cy="5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We'll use Cloud Run, Firestore and BigQuery.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4682300" y="1764725"/>
            <a:ext cx="1961100" cy="26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r>
              <a:rPr b="0"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.Big</a:t>
            </a:r>
            <a:r>
              <a:rPr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</a:t>
            </a:r>
            <a:r>
              <a:rPr b="0"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uery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4D399"/>
                </a:solidFill>
                <a:highlight>
                  <a:srgbClr val="0F172A"/>
                </a:highlight>
                <a:latin typeface="Arial"/>
                <a:ea typeface="Arial"/>
                <a:cs typeface="Arial"/>
                <a:sym typeface="Arial"/>
              </a:rPr>
              <a:t>gcloud services enable </a:t>
            </a:r>
            <a:r>
              <a:rPr lang="en" sz="2000">
                <a:solidFill>
                  <a:srgbClr val="34D399"/>
                </a:solidFill>
                <a:highlight>
                  <a:srgbClr val="0F172A"/>
                </a:highlight>
              </a:rPr>
              <a:t>bigquery</a:t>
            </a:r>
            <a:r>
              <a:rPr lang="en" sz="2000">
                <a:solidFill>
                  <a:srgbClr val="34D399"/>
                </a:solidFill>
                <a:highlight>
                  <a:srgbClr val="0F172A"/>
                </a:highlight>
                <a:latin typeface="Arial"/>
                <a:ea typeface="Arial"/>
                <a:cs typeface="Arial"/>
                <a:sym typeface="Arial"/>
              </a:rPr>
              <a:t>.googleapis.com</a:t>
            </a:r>
            <a:endParaRPr sz="2000">
              <a:solidFill>
                <a:srgbClr val="34D399"/>
              </a:solidFill>
              <a:highlight>
                <a:srgbClr val="0F172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631650" y="4321350"/>
            <a:ext cx="80010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We need Cloud Build because Cloud Run source deployment uses Google Cloud buildpacks/Cloud Build to build the application automatically. 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1"/>
          <p:cNvPicPr preferRelativeResize="0"/>
          <p:nvPr/>
        </p:nvPicPr>
        <p:blipFill rotWithShape="1">
          <a:blip r:embed="rId3">
            <a:alphaModFix/>
          </a:blip>
          <a:srcRect b="0" l="0" r="0" t="14872"/>
          <a:stretch/>
        </p:blipFill>
        <p:spPr>
          <a:xfrm>
            <a:off x="152400" y="3410101"/>
            <a:ext cx="8839198" cy="16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 rotWithShape="1">
          <a:blip r:embed="rId4">
            <a:alphaModFix/>
          </a:blip>
          <a:srcRect b="0" l="0" r="0" t="4589"/>
          <a:stretch/>
        </p:blipFill>
        <p:spPr>
          <a:xfrm>
            <a:off x="103800" y="2132525"/>
            <a:ext cx="8839198" cy="12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0500"/>
            <a:ext cx="9144003" cy="19926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31"/>
          <p:cNvCxnSpPr/>
          <p:nvPr/>
        </p:nvCxnSpPr>
        <p:spPr>
          <a:xfrm>
            <a:off x="218700" y="2405700"/>
            <a:ext cx="3191400" cy="32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1"/>
          <p:cNvCxnSpPr/>
          <p:nvPr/>
        </p:nvCxnSpPr>
        <p:spPr>
          <a:xfrm>
            <a:off x="6771600" y="3628800"/>
            <a:ext cx="2008800" cy="16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2"/>
          <p:cNvGrpSpPr/>
          <p:nvPr/>
        </p:nvGrpSpPr>
        <p:grpSpPr>
          <a:xfrm>
            <a:off x="1326200" y="354700"/>
            <a:ext cx="5701200" cy="476400"/>
            <a:chOff x="0" y="0"/>
            <a:chExt cx="5701200" cy="476400"/>
          </a:xfrm>
        </p:grpSpPr>
        <p:sp>
          <p:nvSpPr>
            <p:cNvPr id="260" name="Google Shape;260;p32"/>
            <p:cNvSpPr/>
            <p:nvPr/>
          </p:nvSpPr>
          <p:spPr>
            <a:xfrm>
              <a:off x="0" y="0"/>
              <a:ext cx="3048000" cy="476400"/>
            </a:xfrm>
            <a:prstGeom prst="roundRect">
              <a:avLst>
                <a:gd fmla="val 12000" name="adj"/>
              </a:avLst>
            </a:prstGeom>
            <a:solidFill>
              <a:srgbClr val="60A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2"/>
            <p:cNvSpPr txBox="1"/>
            <p:nvPr/>
          </p:nvSpPr>
          <p:spPr>
            <a:xfrm>
              <a:off x="0" y="0"/>
              <a:ext cx="5701200" cy="476400"/>
            </a:xfrm>
            <a:prstGeom prst="rect">
              <a:avLst/>
            </a:prstGeom>
            <a:solidFill>
              <a:srgbClr val="34D39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Create a Database in Firestore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2" name="Google Shape;262;p32"/>
          <p:cNvGrpSpPr/>
          <p:nvPr/>
        </p:nvGrpSpPr>
        <p:grpSpPr>
          <a:xfrm>
            <a:off x="476250" y="1095375"/>
            <a:ext cx="2533800" cy="3619500"/>
            <a:chOff x="0" y="0"/>
            <a:chExt cx="2533800" cy="3619500"/>
          </a:xfrm>
        </p:grpSpPr>
        <p:sp>
          <p:nvSpPr>
            <p:cNvPr id="263" name="Google Shape;263;p32"/>
            <p:cNvSpPr/>
            <p:nvPr/>
          </p:nvSpPr>
          <p:spPr>
            <a:xfrm>
              <a:off x="0" y="0"/>
              <a:ext cx="2533800" cy="3619500"/>
            </a:xfrm>
            <a:prstGeom prst="roundRect">
              <a:avLst>
                <a:gd fmla="val 375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2"/>
            <p:cNvSpPr txBox="1"/>
            <p:nvPr/>
          </p:nvSpPr>
          <p:spPr>
            <a:xfrm>
              <a:off x="0" y="0"/>
              <a:ext cx="2533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STEP 01</a:t>
              </a:r>
              <a:endParaRPr b="0" sz="12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Check Database</a:t>
              </a:r>
              <a:endParaRPr b="1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First, verify if a default database already exists in your project: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34D399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gcloud firestore databases list</a:t>
              </a:r>
              <a:endParaRPr sz="950">
                <a:solidFill>
                  <a:srgbClr val="34D399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If you already have </a:t>
              </a:r>
              <a:r>
                <a:rPr lang="en" sz="1000">
                  <a:solidFill>
                    <a:srgbClr val="34D39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(default)</a:t>
              </a:r>
              <a:r>
                <a:rPr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, do not create another one.</a:t>
              </a:r>
              <a:endParaRPr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5" name="Google Shape;265;p32"/>
          <p:cNvGrpSpPr/>
          <p:nvPr/>
        </p:nvGrpSpPr>
        <p:grpSpPr>
          <a:xfrm>
            <a:off x="3295650" y="1095375"/>
            <a:ext cx="2533800" cy="3619500"/>
            <a:chOff x="0" y="0"/>
            <a:chExt cx="2533800" cy="3619500"/>
          </a:xfrm>
        </p:grpSpPr>
        <p:sp>
          <p:nvSpPr>
            <p:cNvPr id="266" name="Google Shape;266;p32"/>
            <p:cNvSpPr/>
            <p:nvPr/>
          </p:nvSpPr>
          <p:spPr>
            <a:xfrm>
              <a:off x="0" y="0"/>
              <a:ext cx="2533800" cy="3619500"/>
            </a:xfrm>
            <a:prstGeom prst="roundRect">
              <a:avLst>
                <a:gd fmla="val 375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2"/>
            <p:cNvSpPr txBox="1"/>
            <p:nvPr/>
          </p:nvSpPr>
          <p:spPr>
            <a:xfrm>
              <a:off x="0" y="0"/>
              <a:ext cx="2533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STEP 02</a:t>
              </a:r>
              <a:endParaRPr b="0" sz="12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Initialize</a:t>
              </a:r>
              <a:endParaRPr b="1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If you don't have one, run this command to create it: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4D399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gcloud firestore databases create \</a:t>
              </a:r>
              <a:endParaRPr sz="900">
                <a:solidFill>
                  <a:srgbClr val="34D399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4D399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  --database="(default)" \</a:t>
              </a:r>
              <a:endParaRPr sz="900">
                <a:solidFill>
                  <a:srgbClr val="34D399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4D399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  --location=europe-west1</a:t>
              </a:r>
              <a:endParaRPr sz="900">
                <a:solidFill>
                  <a:srgbClr val="34D399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For this project, we must use </a:t>
              </a:r>
              <a:r>
                <a:rPr b="1" lang="en" sz="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Firestore Native mode</a:t>
              </a:r>
              <a:r>
                <a:rPr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8" name="Google Shape;268;p32"/>
          <p:cNvGrpSpPr/>
          <p:nvPr/>
        </p:nvGrpSpPr>
        <p:grpSpPr>
          <a:xfrm>
            <a:off x="6115050" y="1095375"/>
            <a:ext cx="2533800" cy="3619500"/>
            <a:chOff x="0" y="0"/>
            <a:chExt cx="2533800" cy="3619500"/>
          </a:xfrm>
        </p:grpSpPr>
        <p:sp>
          <p:nvSpPr>
            <p:cNvPr id="269" name="Google Shape;269;p32"/>
            <p:cNvSpPr/>
            <p:nvPr/>
          </p:nvSpPr>
          <p:spPr>
            <a:xfrm>
              <a:off x="0" y="0"/>
              <a:ext cx="2533800" cy="3619500"/>
            </a:xfrm>
            <a:prstGeom prst="roundRect">
              <a:avLst>
                <a:gd fmla="val 375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2"/>
            <p:cNvSpPr txBox="1"/>
            <p:nvPr/>
          </p:nvSpPr>
          <p:spPr>
            <a:xfrm>
              <a:off x="0" y="0"/>
              <a:ext cx="2533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STEP 03</a:t>
              </a:r>
              <a:endParaRPr b="0" sz="12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Verify Setup</a:t>
              </a:r>
              <a:endParaRPr b="1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Check again to confirm proper initialization: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34D399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gcloud firestore databases list</a:t>
              </a:r>
              <a:endParaRPr sz="950">
                <a:solidFill>
                  <a:srgbClr val="34D399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Expected output similar to:</a:t>
              </a:r>
              <a:endParaRPr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A7F3D0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(default) europe-west1 FIRESTORE_NATIVE</a:t>
              </a:r>
              <a:endParaRPr sz="750">
                <a:solidFill>
                  <a:srgbClr val="A7F3D0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7400"/>
            <a:ext cx="8839204" cy="388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6900"/>
            <a:ext cx="8839198" cy="422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00" y="128850"/>
            <a:ext cx="8587500" cy="48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5"/>
          <p:cNvSpPr/>
          <p:nvPr/>
        </p:nvSpPr>
        <p:spPr>
          <a:xfrm>
            <a:off x="551007" y="2746043"/>
            <a:ext cx="994350" cy="891100"/>
          </a:xfrm>
          <a:custGeom>
            <a:rect b="b" l="l" r="r" t="t"/>
            <a:pathLst>
              <a:path extrusionOk="0" h="35644" w="39774">
                <a:moveTo>
                  <a:pt x="31096" y="34662"/>
                </a:moveTo>
                <a:cubicBezTo>
                  <a:pt x="22315" y="34662"/>
                  <a:pt x="11709" y="37879"/>
                  <a:pt x="4852" y="32394"/>
                </a:cubicBezTo>
                <a:cubicBezTo>
                  <a:pt x="-2237" y="26723"/>
                  <a:pt x="-1150" y="10989"/>
                  <a:pt x="5824" y="5178"/>
                </a:cubicBezTo>
                <a:cubicBezTo>
                  <a:pt x="11362" y="563"/>
                  <a:pt x="21026" y="-1771"/>
                  <a:pt x="27208" y="1938"/>
                </a:cubicBezTo>
                <a:cubicBezTo>
                  <a:pt x="32068" y="4854"/>
                  <a:pt x="33723" y="11309"/>
                  <a:pt x="35956" y="16518"/>
                </a:cubicBezTo>
                <a:cubicBezTo>
                  <a:pt x="37834" y="20900"/>
                  <a:pt x="40967" y="26023"/>
                  <a:pt x="39196" y="30450"/>
                </a:cubicBezTo>
                <a:cubicBezTo>
                  <a:pt x="37736" y="34100"/>
                  <a:pt x="31787" y="33690"/>
                  <a:pt x="27856" y="33690"/>
                </a:cubicBezTo>
              </a:path>
            </a:pathLst>
          </a:custGeom>
          <a:noFill/>
          <a:ln cap="flat" cmpd="sng" w="38100">
            <a:solidFill>
              <a:srgbClr val="EF444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7" name="Google Shape;287;p35"/>
          <p:cNvSpPr/>
          <p:nvPr/>
        </p:nvSpPr>
        <p:spPr>
          <a:xfrm>
            <a:off x="3119894" y="2930874"/>
            <a:ext cx="1073750" cy="640500"/>
          </a:xfrm>
          <a:custGeom>
            <a:rect b="b" l="l" r="r" t="t"/>
            <a:pathLst>
              <a:path extrusionOk="0" h="25620" w="42950">
                <a:moveTo>
                  <a:pt x="32020" y="24029"/>
                </a:moveTo>
                <a:cubicBezTo>
                  <a:pt x="24565" y="24029"/>
                  <a:pt x="16737" y="27035"/>
                  <a:pt x="9664" y="24677"/>
                </a:cubicBezTo>
                <a:cubicBezTo>
                  <a:pt x="4407" y="22925"/>
                  <a:pt x="-1886" y="15702"/>
                  <a:pt x="592" y="10745"/>
                </a:cubicBezTo>
                <a:cubicBezTo>
                  <a:pt x="5925" y="78"/>
                  <a:pt x="25471" y="-3028"/>
                  <a:pt x="35584" y="3293"/>
                </a:cubicBezTo>
                <a:cubicBezTo>
                  <a:pt x="40805" y="6556"/>
                  <a:pt x="44335" y="14624"/>
                  <a:pt x="42388" y="20465"/>
                </a:cubicBezTo>
                <a:cubicBezTo>
                  <a:pt x="41271" y="23815"/>
                  <a:pt x="36199" y="24677"/>
                  <a:pt x="32668" y="24677"/>
                </a:cubicBezTo>
              </a:path>
            </a:pathLst>
          </a:custGeom>
          <a:noFill/>
          <a:ln cap="flat" cmpd="sng" w="38100">
            <a:solidFill>
              <a:srgbClr val="EF4444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88" name="Google Shape;288;p35"/>
          <p:cNvCxnSpPr/>
          <p:nvPr/>
        </p:nvCxnSpPr>
        <p:spPr>
          <a:xfrm flipH="1" rot="10800000">
            <a:off x="1579500" y="3491100"/>
            <a:ext cx="1668600" cy="899100"/>
          </a:xfrm>
          <a:prstGeom prst="straightConnector1">
            <a:avLst/>
          </a:prstGeom>
          <a:noFill/>
          <a:ln cap="flat" cmpd="sng" w="38100">
            <a:solidFill>
              <a:srgbClr val="EF444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5"/>
          <p:cNvCxnSpPr/>
          <p:nvPr/>
        </p:nvCxnSpPr>
        <p:spPr>
          <a:xfrm rot="10800000">
            <a:off x="1474200" y="3499200"/>
            <a:ext cx="1458000" cy="980100"/>
          </a:xfrm>
          <a:prstGeom prst="straightConnector1">
            <a:avLst/>
          </a:prstGeom>
          <a:noFill/>
          <a:ln cap="flat" cmpd="sng" w="38100">
            <a:solidFill>
              <a:srgbClr val="EF444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5"/>
          <p:cNvSpPr txBox="1"/>
          <p:nvPr/>
        </p:nvSpPr>
        <p:spPr>
          <a:xfrm>
            <a:off x="5386500" y="1263600"/>
            <a:ext cx="30051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Open Firestore page to see if the database (default) is created.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 txBox="1"/>
          <p:nvPr/>
        </p:nvSpPr>
        <p:spPr>
          <a:xfrm>
            <a:off x="1755550" y="258325"/>
            <a:ext cx="5166600" cy="762000"/>
          </a:xfrm>
          <a:prstGeom prst="rect">
            <a:avLst/>
          </a:prstGeom>
          <a:solidFill>
            <a:srgbClr val="34D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the BigQuery dataset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Now we're going to create the analytics </a:t>
            </a:r>
            <a:r>
              <a:rPr lang="en" sz="1300">
                <a:solidFill>
                  <a:schemeClr val="lt1"/>
                </a:solidFill>
              </a:rPr>
              <a:t>dataset.</a:t>
            </a:r>
            <a:endParaRPr b="0"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36"/>
          <p:cNvGrpSpPr/>
          <p:nvPr/>
        </p:nvGrpSpPr>
        <p:grpSpPr>
          <a:xfrm>
            <a:off x="379850" y="972199"/>
            <a:ext cx="2984973" cy="3137459"/>
            <a:chOff x="0" y="0"/>
            <a:chExt cx="3143400" cy="3238500"/>
          </a:xfrm>
        </p:grpSpPr>
        <p:sp>
          <p:nvSpPr>
            <p:cNvPr id="297" name="Google Shape;297;p36"/>
            <p:cNvSpPr/>
            <p:nvPr/>
          </p:nvSpPr>
          <p:spPr>
            <a:xfrm>
              <a:off x="0" y="0"/>
              <a:ext cx="3143400" cy="3238500"/>
            </a:xfrm>
            <a:prstGeom prst="roundRect">
              <a:avLst>
                <a:gd fmla="val 3636" name="adj"/>
              </a:avLst>
            </a:prstGeom>
            <a:solidFill>
              <a:srgbClr val="090D16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6"/>
            <p:cNvSpPr/>
            <p:nvPr/>
          </p:nvSpPr>
          <p:spPr>
            <a:xfrm>
              <a:off x="238125" y="714375"/>
              <a:ext cx="1333500" cy="381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 cap="flat" cmpd="sng" w="9525">
              <a:solidFill>
                <a:srgbClr val="60A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6"/>
            <p:cNvSpPr/>
            <p:nvPr/>
          </p:nvSpPr>
          <p:spPr>
            <a:xfrm>
              <a:off x="619125" y="1476375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0F172A"/>
            </a:solidFill>
            <a:ln cap="flat" cmpd="sng" w="19050">
              <a:solidFill>
                <a:srgbClr val="FFAB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6"/>
            <p:cNvSpPr/>
            <p:nvPr/>
          </p:nvSpPr>
          <p:spPr>
            <a:xfrm>
              <a:off x="1000125" y="2333625"/>
              <a:ext cx="1333500" cy="381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 cap="flat" cmpd="sng" w="9525">
              <a:solidFill>
                <a:srgbClr val="60A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6"/>
            <p:cNvSpPr/>
            <p:nvPr/>
          </p:nvSpPr>
          <p:spPr>
            <a:xfrm>
              <a:off x="428625" y="1095375"/>
              <a:ext cx="190500" cy="638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60A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6"/>
            <p:cNvSpPr/>
            <p:nvPr/>
          </p:nvSpPr>
          <p:spPr>
            <a:xfrm>
              <a:off x="809625" y="2000250"/>
              <a:ext cx="190500" cy="523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60A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6"/>
            <p:cNvSpPr txBox="1"/>
            <p:nvPr/>
          </p:nvSpPr>
          <p:spPr>
            <a:xfrm>
              <a:off x="238125" y="190500"/>
              <a:ext cx="2667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BigQuery Hierarchy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6"/>
            <p:cNvSpPr txBox="1"/>
            <p:nvPr/>
          </p:nvSpPr>
          <p:spPr>
            <a:xfrm>
              <a:off x="238125" y="714375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BigQuery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6"/>
            <p:cNvSpPr txBox="1"/>
            <p:nvPr/>
          </p:nvSpPr>
          <p:spPr>
            <a:xfrm>
              <a:off x="619125" y="1476375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Dataset (We'll call it)</a:t>
              </a:r>
              <a:endParaRPr b="0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community_analytics</a:t>
              </a:r>
              <a:endParaRPr b="1" sz="11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6"/>
            <p:cNvSpPr txBox="1"/>
            <p:nvPr/>
          </p:nvSpPr>
          <p:spPr>
            <a:xfrm>
              <a:off x="1000125" y="2333625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Table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6"/>
            <p:cNvSpPr txBox="1"/>
            <p:nvPr/>
          </p:nvSpPr>
          <p:spPr>
            <a:xfrm>
              <a:off x="238125" y="280987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Datasets are top-level containers for tables and views; location is chosen on creation.</a:t>
              </a:r>
              <a:endParaRPr b="0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36"/>
          <p:cNvGrpSpPr/>
          <p:nvPr/>
        </p:nvGrpSpPr>
        <p:grpSpPr>
          <a:xfrm>
            <a:off x="3512075" y="1059625"/>
            <a:ext cx="4857900" cy="3050019"/>
            <a:chOff x="0" y="0"/>
            <a:chExt cx="4857900" cy="3238500"/>
          </a:xfrm>
        </p:grpSpPr>
        <p:sp>
          <p:nvSpPr>
            <p:cNvPr id="309" name="Google Shape;309;p36"/>
            <p:cNvSpPr/>
            <p:nvPr/>
          </p:nvSpPr>
          <p:spPr>
            <a:xfrm>
              <a:off x="0" y="0"/>
              <a:ext cx="4857900" cy="3238500"/>
            </a:xfrm>
            <a:prstGeom prst="roundRect">
              <a:avLst>
                <a:gd fmla="val 3529" name="adj"/>
              </a:avLst>
            </a:prstGeom>
            <a:solidFill>
              <a:srgbClr val="090D16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238125" y="666750"/>
              <a:ext cx="4381500" cy="904800"/>
            </a:xfrm>
            <a:prstGeom prst="roundRect">
              <a:avLst>
                <a:gd fmla="val 631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238125" y="1905000"/>
              <a:ext cx="4381500" cy="904800"/>
            </a:xfrm>
            <a:prstGeom prst="roundRect">
              <a:avLst>
                <a:gd fmla="val 631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6"/>
            <p:cNvSpPr txBox="1"/>
            <p:nvPr/>
          </p:nvSpPr>
          <p:spPr>
            <a:xfrm>
              <a:off x="238125" y="190500"/>
              <a:ext cx="438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Command Execution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6"/>
            <p:cNvSpPr txBox="1"/>
            <p:nvPr/>
          </p:nvSpPr>
          <p:spPr>
            <a:xfrm>
              <a:off x="53775" y="523875"/>
              <a:ext cx="438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4"/>
                  </a:solidFill>
                </a:rPr>
                <a:t>Run the following command to create the dataset:</a:t>
              </a:r>
              <a:endParaRPr b="1" sz="1200">
                <a:solidFill>
                  <a:schemeClr val="accent4"/>
                </a:solidFill>
              </a:endParaRPr>
            </a:p>
          </p:txBody>
        </p:sp>
        <p:sp>
          <p:nvSpPr>
            <p:cNvPr id="314" name="Google Shape;314;p36"/>
            <p:cNvSpPr txBox="1"/>
            <p:nvPr/>
          </p:nvSpPr>
          <p:spPr>
            <a:xfrm>
              <a:off x="333375" y="714375"/>
              <a:ext cx="41019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bq mk</a:t>
              </a:r>
              <a:r>
                <a:rPr lang="en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\</a:t>
              </a:r>
              <a:endParaRPr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--dataset \</a:t>
              </a:r>
              <a:endParaRPr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--location=europe-west1 \</a:t>
              </a:r>
              <a:endParaRPr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FFAB4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YOUR_PROJECT_ID</a:t>
              </a:r>
              <a:r>
                <a:rPr lang="en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:community_analytics</a:t>
              </a:r>
              <a:endParaRPr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5" name="Google Shape;315;p36"/>
            <p:cNvSpPr txBox="1"/>
            <p:nvPr/>
          </p:nvSpPr>
          <p:spPr>
            <a:xfrm>
              <a:off x="53775" y="1643013"/>
              <a:ext cx="438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4"/>
                  </a:solidFill>
                </a:rPr>
                <a:t>For example (with a project ID):</a:t>
              </a:r>
              <a:endParaRPr b="1" sz="1200">
                <a:solidFill>
                  <a:schemeClr val="accent4"/>
                </a:solidFill>
              </a:endParaRPr>
            </a:p>
          </p:txBody>
        </p:sp>
        <p:sp>
          <p:nvSpPr>
            <p:cNvPr id="316" name="Google Shape;316;p36"/>
            <p:cNvSpPr txBox="1"/>
            <p:nvPr/>
          </p:nvSpPr>
          <p:spPr>
            <a:xfrm>
              <a:off x="238125" y="1905000"/>
              <a:ext cx="4004400" cy="10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bq mk</a:t>
              </a:r>
              <a:r>
                <a:rPr lang="en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\</a:t>
              </a:r>
              <a:endParaRPr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--dataset \</a:t>
              </a:r>
              <a:endParaRPr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--location=europe-west1 \</a:t>
              </a:r>
              <a:endParaRPr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FFAB4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community-project-tracker-123</a:t>
              </a:r>
              <a:r>
                <a:rPr lang="en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:community_analytics</a:t>
              </a:r>
              <a:endParaRPr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17" name="Google Shape;317;p36"/>
          <p:cNvSpPr txBox="1"/>
          <p:nvPr/>
        </p:nvSpPr>
        <p:spPr>
          <a:xfrm>
            <a:off x="2138025" y="4240975"/>
            <a:ext cx="65541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Run: bq ls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Run: bq show </a:t>
            </a:r>
            <a:r>
              <a:rPr lang="en" sz="1800">
                <a:solidFill>
                  <a:schemeClr val="lt1"/>
                </a:solidFill>
              </a:rPr>
              <a:t>our-cursor-507508-c1:community_analytics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8" name="Google Shape;318;p36"/>
          <p:cNvSpPr/>
          <p:nvPr/>
        </p:nvSpPr>
        <p:spPr>
          <a:xfrm rot="184144">
            <a:off x="196411" y="4057829"/>
            <a:ext cx="1428849" cy="1032293"/>
          </a:xfrm>
          <a:prstGeom prst="cloudCallout">
            <a:avLst>
              <a:gd fmla="val 80830" name="adj1"/>
              <a:gd fmla="val -685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what you created.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7"/>
          <p:cNvSpPr txBox="1"/>
          <p:nvPr>
            <p:ph type="title"/>
          </p:nvPr>
        </p:nvSpPr>
        <p:spPr>
          <a:xfrm>
            <a:off x="676600" y="199475"/>
            <a:ext cx="7957500" cy="572700"/>
          </a:xfrm>
          <a:prstGeom prst="rect">
            <a:avLst/>
          </a:prstGeom>
          <a:solidFill>
            <a:srgbClr val="34D39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Check the dataset you’ve just created in BQ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324" name="Google Shape;324;p37"/>
          <p:cNvPicPr preferRelativeResize="0"/>
          <p:nvPr/>
        </p:nvPicPr>
        <p:blipFill rotWithShape="1">
          <a:blip r:embed="rId3">
            <a:alphaModFix/>
          </a:blip>
          <a:srcRect b="0" l="0" r="0" t="1565"/>
          <a:stretch/>
        </p:blipFill>
        <p:spPr>
          <a:xfrm>
            <a:off x="228913" y="931500"/>
            <a:ext cx="8831975" cy="40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329" name="Google Shape;3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8"/>
          <p:cNvSpPr/>
          <p:nvPr/>
        </p:nvSpPr>
        <p:spPr>
          <a:xfrm>
            <a:off x="446050" y="306650"/>
            <a:ext cx="8433000" cy="975600"/>
          </a:xfrm>
          <a:prstGeom prst="rect">
            <a:avLst/>
          </a:prstGeom>
          <a:solidFill>
            <a:srgbClr val="34D3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</a:rPr>
              <a:t>Create</a:t>
            </a:r>
            <a:r>
              <a:rPr b="1" lang="en" sz="3200">
                <a:solidFill>
                  <a:schemeClr val="lt1"/>
                </a:solidFill>
              </a:rPr>
              <a:t> a BigQuery Table</a:t>
            </a:r>
            <a:endParaRPr b="1" sz="3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We are going to create a table called “Participants”</a:t>
            </a:r>
            <a:endParaRPr b="1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335" name="Google Shape;3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0238"/>
            <a:ext cx="8839204" cy="3038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0"/>
          <p:cNvSpPr txBox="1"/>
          <p:nvPr/>
        </p:nvSpPr>
        <p:spPr>
          <a:xfrm>
            <a:off x="382375" y="468700"/>
            <a:ext cx="5279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</a:rPr>
              <a:t>It should look like this.</a:t>
            </a:r>
            <a:endParaRPr b="1"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"/>
          <p:cNvSpPr/>
          <p:nvPr/>
        </p:nvSpPr>
        <p:spPr>
          <a:xfrm>
            <a:off x="6175850" y="3356975"/>
            <a:ext cx="2712600" cy="1702200"/>
          </a:xfrm>
          <a:prstGeom prst="cloudCallout">
            <a:avLst>
              <a:gd fmla="val -86377" name="adj1"/>
              <a:gd fmla="val -4927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You can see what you created in BigQuery.</a:t>
            </a:r>
            <a:endParaRPr b="1" sz="1800"/>
          </a:p>
        </p:txBody>
      </p:sp>
      <p:pic>
        <p:nvPicPr>
          <p:cNvPr id="347" name="Google Shape;3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70401" cy="308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"/>
          <p:cNvSpPr txBox="1"/>
          <p:nvPr/>
        </p:nvSpPr>
        <p:spPr>
          <a:xfrm>
            <a:off x="1688525" y="609750"/>
            <a:ext cx="5953500" cy="53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chemeClr val="lt2"/>
                </a:solidFill>
              </a:rPr>
              <a:t>Create an application folder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353" name="Google Shape;35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80250"/>
            <a:ext cx="8839202" cy="184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43"/>
          <p:cNvGrpSpPr/>
          <p:nvPr/>
        </p:nvGrpSpPr>
        <p:grpSpPr>
          <a:xfrm>
            <a:off x="930300" y="333375"/>
            <a:ext cx="7283400" cy="762000"/>
            <a:chOff x="0" y="0"/>
            <a:chExt cx="7283400" cy="762000"/>
          </a:xfrm>
        </p:grpSpPr>
        <p:sp>
          <p:nvSpPr>
            <p:cNvPr id="359" name="Google Shape;359;p43"/>
            <p:cNvSpPr/>
            <p:nvPr/>
          </p:nvSpPr>
          <p:spPr>
            <a:xfrm>
              <a:off x="0" y="0"/>
              <a:ext cx="5334000" cy="7620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3"/>
            <p:cNvSpPr txBox="1"/>
            <p:nvPr/>
          </p:nvSpPr>
          <p:spPr>
            <a:xfrm>
              <a:off x="0" y="0"/>
              <a:ext cx="7283400" cy="762000"/>
            </a:xfrm>
            <a:prstGeom prst="rect">
              <a:avLst/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Create the Python application</a:t>
              </a:r>
              <a:endParaRPr b="1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p43"/>
          <p:cNvGrpSpPr/>
          <p:nvPr/>
        </p:nvGrpSpPr>
        <p:grpSpPr>
          <a:xfrm>
            <a:off x="600075" y="1285875"/>
            <a:ext cx="2476500" cy="2857500"/>
            <a:chOff x="0" y="0"/>
            <a:chExt cx="2476500" cy="2857500"/>
          </a:xfrm>
        </p:grpSpPr>
        <p:sp>
          <p:nvSpPr>
            <p:cNvPr id="362" name="Google Shape;362;p43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00000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3"/>
            <p:cNvSpPr txBox="1"/>
            <p:nvPr/>
          </p:nvSpPr>
          <p:spPr>
            <a:xfrm>
              <a:off x="190500" y="238125"/>
              <a:ext cx="2095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Step 01</a:t>
              </a:r>
              <a:endParaRPr b="1" sz="20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Create File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Create the main file in your workspace directory:</a:t>
              </a:r>
              <a:endParaRPr b="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$ touch main.py</a:t>
              </a:r>
              <a:endParaRPr b="1" sz="1400">
                <a:solidFill>
                  <a:srgbClr val="FFFFFF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4" name="Google Shape;364;p43"/>
          <p:cNvGrpSpPr/>
          <p:nvPr/>
        </p:nvGrpSpPr>
        <p:grpSpPr>
          <a:xfrm>
            <a:off x="3333750" y="1285875"/>
            <a:ext cx="2476500" cy="2857500"/>
            <a:chOff x="0" y="0"/>
            <a:chExt cx="2476500" cy="2857500"/>
          </a:xfrm>
        </p:grpSpPr>
        <p:sp>
          <p:nvSpPr>
            <p:cNvPr id="365" name="Google Shape;365;p43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00000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3"/>
            <p:cNvSpPr txBox="1"/>
            <p:nvPr/>
          </p:nvSpPr>
          <p:spPr>
            <a:xfrm>
              <a:off x="190500" y="238125"/>
              <a:ext cx="2095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Step 02</a:t>
              </a:r>
              <a:endParaRPr b="1" sz="20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 Editor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 the file in Cloud Shell. You can click:</a:t>
              </a:r>
              <a:endParaRPr b="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Open Editor</a:t>
              </a:r>
              <a:endParaRPr b="1" sz="14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from Cloud Shell.</a:t>
              </a:r>
              <a:endParaRPr b="0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7" name="Google Shape;367;p43"/>
          <p:cNvGrpSpPr/>
          <p:nvPr/>
        </p:nvGrpSpPr>
        <p:grpSpPr>
          <a:xfrm>
            <a:off x="6162675" y="1285875"/>
            <a:ext cx="2476500" cy="2857500"/>
            <a:chOff x="0" y="0"/>
            <a:chExt cx="2476500" cy="2857500"/>
          </a:xfrm>
        </p:grpSpPr>
        <p:sp>
          <p:nvSpPr>
            <p:cNvPr id="368" name="Google Shape;368;p43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00000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3"/>
            <p:cNvSpPr txBox="1"/>
            <p:nvPr/>
          </p:nvSpPr>
          <p:spPr>
            <a:xfrm>
              <a:off x="190500" y="238125"/>
              <a:ext cx="2095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Step 03</a:t>
              </a:r>
              <a:endParaRPr b="1" sz="20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Verify Structure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Your folder structure should look like this:</a:t>
              </a:r>
              <a:endParaRPr b="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community-project-tracker/</a:t>
              </a:r>
              <a:endParaRPr b="1" sz="1300">
                <a:solidFill>
                  <a:srgbClr val="FFFFFF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└── main.py</a:t>
              </a:r>
              <a:endParaRPr b="1" sz="1300">
                <a:solidFill>
                  <a:srgbClr val="FFFFFF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0" name="Google Shape;370;p43"/>
          <p:cNvGrpSpPr/>
          <p:nvPr/>
        </p:nvGrpSpPr>
        <p:grpSpPr>
          <a:xfrm>
            <a:off x="533100" y="4333875"/>
            <a:ext cx="8077800" cy="571500"/>
            <a:chOff x="0" y="0"/>
            <a:chExt cx="8077800" cy="571500"/>
          </a:xfrm>
        </p:grpSpPr>
        <p:sp>
          <p:nvSpPr>
            <p:cNvPr id="371" name="Google Shape;371;p43"/>
            <p:cNvSpPr/>
            <p:nvPr/>
          </p:nvSpPr>
          <p:spPr>
            <a:xfrm>
              <a:off x="0" y="0"/>
              <a:ext cx="8077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FFAB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3"/>
            <p:cNvSpPr txBox="1"/>
            <p:nvPr/>
          </p:nvSpPr>
          <p:spPr>
            <a:xfrm>
              <a:off x="0" y="0"/>
              <a:ext cx="8077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 will use </a:t>
              </a:r>
              <a:r>
                <a:rPr b="1" lang="en" sz="1600">
                  <a:solidFill>
                    <a:srgbClr val="FFAB40"/>
                  </a:solidFill>
                  <a:latin typeface="Arial"/>
                  <a:ea typeface="Arial"/>
                  <a:cs typeface="Arial"/>
                  <a:sym typeface="Arial"/>
                </a:rPr>
                <a:t>Python + Flask</a:t>
              </a:r>
              <a:r>
                <a:rPr b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to build the application.</a:t>
              </a:r>
              <a:endParaRPr b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44"/>
          <p:cNvGrpSpPr/>
          <p:nvPr/>
        </p:nvGrpSpPr>
        <p:grpSpPr>
          <a:xfrm>
            <a:off x="930300" y="333375"/>
            <a:ext cx="7283400" cy="762000"/>
            <a:chOff x="0" y="0"/>
            <a:chExt cx="7283400" cy="762000"/>
          </a:xfrm>
        </p:grpSpPr>
        <p:sp>
          <p:nvSpPr>
            <p:cNvPr id="378" name="Google Shape;378;p44"/>
            <p:cNvSpPr/>
            <p:nvPr/>
          </p:nvSpPr>
          <p:spPr>
            <a:xfrm>
              <a:off x="0" y="0"/>
              <a:ext cx="5334000" cy="7620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4"/>
            <p:cNvSpPr txBox="1"/>
            <p:nvPr/>
          </p:nvSpPr>
          <p:spPr>
            <a:xfrm>
              <a:off x="0" y="0"/>
              <a:ext cx="7283400" cy="762000"/>
            </a:xfrm>
            <a:prstGeom prst="rect">
              <a:avLst/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Create the Python application</a:t>
              </a:r>
              <a:endParaRPr b="1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0" name="Google Shape;38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13825"/>
            <a:ext cx="8839201" cy="25793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/>
          <p:nvPr/>
        </p:nvSpPr>
        <p:spPr>
          <a:xfrm>
            <a:off x="1404125" y="519000"/>
            <a:ext cx="6562800" cy="719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   </a:t>
            </a:r>
            <a:r>
              <a:rPr b="0" lang="en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Create requirements.txt</a:t>
            </a:r>
            <a:endParaRPr b="0" sz="24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86" name="Google Shape;386;p45"/>
          <p:cNvGrpSpPr/>
          <p:nvPr/>
        </p:nvGrpSpPr>
        <p:grpSpPr>
          <a:xfrm>
            <a:off x="571500" y="1238250"/>
            <a:ext cx="3810000" cy="2762400"/>
            <a:chOff x="0" y="0"/>
            <a:chExt cx="3810000" cy="2762400"/>
          </a:xfrm>
        </p:grpSpPr>
        <p:sp>
          <p:nvSpPr>
            <p:cNvPr id="387" name="Google Shape;387;p45"/>
            <p:cNvSpPr/>
            <p:nvPr/>
          </p:nvSpPr>
          <p:spPr>
            <a:xfrm>
              <a:off x="0" y="0"/>
              <a:ext cx="3810000" cy="2762400"/>
            </a:xfrm>
            <a:prstGeom prst="roundRect">
              <a:avLst>
                <a:gd fmla="val 413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5"/>
            <p:cNvSpPr txBox="1"/>
            <p:nvPr/>
          </p:nvSpPr>
          <p:spPr>
            <a:xfrm>
              <a:off x="228600" y="228600"/>
              <a:ext cx="33528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Add Dependencies</a:t>
              </a:r>
              <a:endParaRPr b="1" sz="1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reate</a:t>
              </a:r>
              <a:r>
                <a:rPr lang="en" sz="17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a </a:t>
              </a:r>
              <a:r>
                <a:rPr b="0" lang="en" sz="1700">
                  <a:solidFill>
                    <a:srgbClr val="FBBF2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requirements.txt</a:t>
              </a:r>
              <a:r>
                <a:rPr lang="en" sz="17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7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file and define the required packages:</a:t>
              </a:r>
              <a:endParaRPr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</a:rPr>
                <a:t>Flask==3.1.3</a:t>
              </a:r>
              <a:endParaRPr b="1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</a:rPr>
                <a:t>google-cloud-firestore</a:t>
              </a:r>
              <a:endParaRPr b="1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</a:rPr>
                <a:t>google-cloud-bigquery</a:t>
              </a:r>
              <a:endParaRPr b="1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</a:rPr>
                <a:t>gunicorn</a:t>
              </a:r>
              <a:endParaRPr b="1" sz="1900">
                <a:solidFill>
                  <a:schemeClr val="lt1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89" name="Google Shape;389;p45"/>
          <p:cNvGrpSpPr/>
          <p:nvPr/>
        </p:nvGrpSpPr>
        <p:grpSpPr>
          <a:xfrm>
            <a:off x="4762500" y="1238250"/>
            <a:ext cx="3810000" cy="2762400"/>
            <a:chOff x="0" y="0"/>
            <a:chExt cx="3810000" cy="2762400"/>
          </a:xfrm>
        </p:grpSpPr>
        <p:sp>
          <p:nvSpPr>
            <p:cNvPr id="390" name="Google Shape;390;p45"/>
            <p:cNvSpPr/>
            <p:nvPr/>
          </p:nvSpPr>
          <p:spPr>
            <a:xfrm>
              <a:off x="0" y="0"/>
              <a:ext cx="3810000" cy="2762400"/>
            </a:xfrm>
            <a:prstGeom prst="roundRect">
              <a:avLst>
                <a:gd fmla="val 413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5"/>
            <p:cNvSpPr txBox="1"/>
            <p:nvPr/>
          </p:nvSpPr>
          <p:spPr>
            <a:xfrm>
              <a:off x="228600" y="228600"/>
              <a:ext cx="33528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Project Structure</a:t>
              </a:r>
              <a:endParaRPr b="1" sz="19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Your directory layout should now look like this: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community-project-tracker/</a:t>
              </a:r>
              <a:endParaRPr sz="1700">
                <a:solidFill>
                  <a:srgbClr val="38BDF8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├── </a:t>
              </a:r>
              <a:r>
                <a:rPr lang="en" sz="17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main.py</a:t>
              </a:r>
              <a:endParaRPr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└── requirements.txt</a:t>
              </a:r>
              <a:endParaRPr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/>
          <p:nvPr/>
        </p:nvSpPr>
        <p:spPr>
          <a:xfrm>
            <a:off x="5997825" y="2186525"/>
            <a:ext cx="3006300" cy="888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7" name="Google Shape;39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75" y="347250"/>
            <a:ext cx="5667051" cy="4566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"/>
          <p:cNvSpPr txBox="1"/>
          <p:nvPr/>
        </p:nvSpPr>
        <p:spPr>
          <a:xfrm>
            <a:off x="571500" y="476250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Understand the data flow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This is probably the most important part of the exercise.</a:t>
            </a: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When a participant registers: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03" name="Google Shape;403;p47"/>
          <p:cNvGrpSpPr/>
          <p:nvPr/>
        </p:nvGrpSpPr>
        <p:grpSpPr>
          <a:xfrm>
            <a:off x="1524000" y="1524000"/>
            <a:ext cx="6096000" cy="2952900"/>
            <a:chOff x="1524000" y="1524000"/>
            <a:chExt cx="6096000" cy="2952900"/>
          </a:xfrm>
        </p:grpSpPr>
        <p:sp>
          <p:nvSpPr>
            <p:cNvPr id="404" name="Google Shape;404;p47"/>
            <p:cNvSpPr/>
            <p:nvPr/>
          </p:nvSpPr>
          <p:spPr>
            <a:xfrm>
              <a:off x="3619500" y="1524000"/>
              <a:ext cx="1905000" cy="4764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7"/>
            <p:cNvSpPr txBox="1"/>
            <p:nvPr/>
          </p:nvSpPr>
          <p:spPr>
            <a:xfrm>
              <a:off x="3619500" y="15240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Participant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06" name="Google Shape;406;p47"/>
            <p:cNvCxnSpPr/>
            <p:nvPr/>
          </p:nvCxnSpPr>
          <p:spPr>
            <a:xfrm>
              <a:off x="4572000" y="20002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7" name="Google Shape;407;p47"/>
            <p:cNvSpPr/>
            <p:nvPr/>
          </p:nvSpPr>
          <p:spPr>
            <a:xfrm>
              <a:off x="4533900" y="222885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7"/>
            <p:cNvSpPr/>
            <p:nvPr/>
          </p:nvSpPr>
          <p:spPr>
            <a:xfrm>
              <a:off x="3619500" y="2286000"/>
              <a:ext cx="1905000" cy="4764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 cap="flat" cmpd="sng" w="14300">
              <a:solidFill>
                <a:srgbClr val="60A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7"/>
            <p:cNvSpPr txBox="1"/>
            <p:nvPr/>
          </p:nvSpPr>
          <p:spPr>
            <a:xfrm>
              <a:off x="3619500" y="22860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60A5F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cloud_queue</a:t>
              </a: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Cloud Run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0" name="Google Shape;410;p47"/>
            <p:cNvSpPr/>
            <p:nvPr/>
          </p:nvSpPr>
          <p:spPr>
            <a:xfrm>
              <a:off x="2476500" y="2762250"/>
              <a:ext cx="4191000" cy="476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48000"/>
                  </a:lnTo>
                  <a:moveTo>
                    <a:pt x="0" y="48000"/>
                  </a:moveTo>
                  <a:lnTo>
                    <a:pt x="120000" y="48000"/>
                  </a:lnTo>
                  <a:moveTo>
                    <a:pt x="0" y="48000"/>
                  </a:moveTo>
                  <a:lnTo>
                    <a:pt x="0" y="120000"/>
                  </a:lnTo>
                  <a:moveTo>
                    <a:pt x="120000" y="48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7"/>
            <p:cNvSpPr/>
            <p:nvPr/>
          </p:nvSpPr>
          <p:spPr>
            <a:xfrm>
              <a:off x="2438400" y="3181350"/>
              <a:ext cx="42672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071" y="120000"/>
                  </a:lnTo>
                  <a:lnTo>
                    <a:pt x="2143" y="0"/>
                  </a:lnTo>
                  <a:moveTo>
                    <a:pt x="117857" y="0"/>
                  </a:moveTo>
                  <a:lnTo>
                    <a:pt x="118929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7"/>
            <p:cNvSpPr/>
            <p:nvPr/>
          </p:nvSpPr>
          <p:spPr>
            <a:xfrm>
              <a:off x="1524000" y="3238500"/>
              <a:ext cx="1905000" cy="4764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 cap="flat" cmpd="sng" w="14300">
              <a:solidFill>
                <a:srgbClr val="FBBF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7"/>
            <p:cNvSpPr txBox="1"/>
            <p:nvPr/>
          </p:nvSpPr>
          <p:spPr>
            <a:xfrm>
              <a:off x="1524000" y="32385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BBF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Firestore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14" name="Google Shape;414;p47"/>
            <p:cNvCxnSpPr/>
            <p:nvPr/>
          </p:nvCxnSpPr>
          <p:spPr>
            <a:xfrm>
              <a:off x="2476500" y="37147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5" name="Google Shape;415;p47"/>
            <p:cNvSpPr/>
            <p:nvPr/>
          </p:nvSpPr>
          <p:spPr>
            <a:xfrm>
              <a:off x="2438400" y="394335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7"/>
            <p:cNvSpPr/>
            <p:nvPr/>
          </p:nvSpPr>
          <p:spPr>
            <a:xfrm>
              <a:off x="1524000" y="4000500"/>
              <a:ext cx="1905000" cy="476400"/>
            </a:xfrm>
            <a:prstGeom prst="roundRect">
              <a:avLst>
                <a:gd fmla="val 16000" name="adj"/>
              </a:avLst>
            </a:prstGeom>
            <a:solidFill>
              <a:srgbClr val="111827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7"/>
            <p:cNvSpPr txBox="1"/>
            <p:nvPr/>
          </p:nvSpPr>
          <p:spPr>
            <a:xfrm>
              <a:off x="1524000" y="40005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Operational data</a:t>
              </a:r>
              <a:endParaRPr b="0" sz="11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18" name="Google Shape;418;p47"/>
            <p:cNvSpPr/>
            <p:nvPr/>
          </p:nvSpPr>
          <p:spPr>
            <a:xfrm>
              <a:off x="5715000" y="3238500"/>
              <a:ext cx="1905000" cy="4764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 cap="flat" cmpd="sng" w="14300">
              <a:solidFill>
                <a:srgbClr val="34D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7"/>
            <p:cNvSpPr txBox="1"/>
            <p:nvPr/>
          </p:nvSpPr>
          <p:spPr>
            <a:xfrm>
              <a:off x="5715000" y="32385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4D3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BigQuery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20" name="Google Shape;420;p47"/>
            <p:cNvCxnSpPr/>
            <p:nvPr/>
          </p:nvCxnSpPr>
          <p:spPr>
            <a:xfrm>
              <a:off x="6667500" y="37147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1" name="Google Shape;421;p47"/>
            <p:cNvSpPr/>
            <p:nvPr/>
          </p:nvSpPr>
          <p:spPr>
            <a:xfrm>
              <a:off x="6629400" y="394335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7"/>
            <p:cNvSpPr/>
            <p:nvPr/>
          </p:nvSpPr>
          <p:spPr>
            <a:xfrm>
              <a:off x="5715000" y="4000500"/>
              <a:ext cx="1905000" cy="476400"/>
            </a:xfrm>
            <a:prstGeom prst="roundRect">
              <a:avLst>
                <a:gd fmla="val 16000" name="adj"/>
              </a:avLst>
            </a:prstGeom>
            <a:solidFill>
              <a:srgbClr val="111827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7"/>
            <p:cNvSpPr txBox="1"/>
            <p:nvPr/>
          </p:nvSpPr>
          <p:spPr>
            <a:xfrm>
              <a:off x="5715000" y="40005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Analytics data</a:t>
              </a:r>
              <a:endParaRPr b="0" sz="11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application performs </a:t>
            </a:r>
            <a:r>
              <a:rPr b="0" lang="en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two writes</a:t>
            </a:r>
            <a:r>
              <a:rPr b="0" lang="en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.</a:t>
            </a:r>
            <a:endParaRPr b="0" sz="2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29" name="Google Shape;429;p48"/>
          <p:cNvGrpSpPr/>
          <p:nvPr/>
        </p:nvGrpSpPr>
        <p:grpSpPr>
          <a:xfrm>
            <a:off x="571500" y="1143000"/>
            <a:ext cx="3810000" cy="2476500"/>
            <a:chOff x="0" y="0"/>
            <a:chExt cx="3810000" cy="2476500"/>
          </a:xfrm>
        </p:grpSpPr>
        <p:sp>
          <p:nvSpPr>
            <p:cNvPr id="430" name="Google Shape;430;p48"/>
            <p:cNvSpPr/>
            <p:nvPr/>
          </p:nvSpPr>
          <p:spPr>
            <a:xfrm>
              <a:off x="0" y="0"/>
              <a:ext cx="3810000" cy="24765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8"/>
            <p:cNvSpPr txBox="1"/>
            <p:nvPr/>
          </p:nvSpPr>
          <p:spPr>
            <a:xfrm>
              <a:off x="228600" y="228600"/>
              <a:ext cx="33528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BBF24"/>
                  </a:solidFill>
                  <a:latin typeface="Inter"/>
                  <a:ea typeface="Inter"/>
                  <a:cs typeface="Inter"/>
                  <a:sym typeface="Inter"/>
                </a:rPr>
                <a:t>Write 1: Operational Database</a:t>
              </a:r>
              <a:endParaRPr b="1" sz="1600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Stores the immediate application state in Firestore.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firestore_client.collection(</a:t>
              </a:r>
              <a:endParaRPr sz="1100">
                <a:solidFill>
                  <a:srgbClr val="38BDF8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"participants"</a:t>
              </a:r>
              <a:endParaRPr sz="1100">
                <a:solidFill>
                  <a:srgbClr val="38BDF8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38BDF8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➔ Operational record storage</a:t>
              </a:r>
              <a:endParaRPr b="0" sz="1100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32" name="Google Shape;432;p48"/>
          <p:cNvGrpSpPr/>
          <p:nvPr/>
        </p:nvGrpSpPr>
        <p:grpSpPr>
          <a:xfrm>
            <a:off x="4762500" y="1143000"/>
            <a:ext cx="3810000" cy="2476500"/>
            <a:chOff x="0" y="0"/>
            <a:chExt cx="3810000" cy="2476500"/>
          </a:xfrm>
        </p:grpSpPr>
        <p:sp>
          <p:nvSpPr>
            <p:cNvPr id="433" name="Google Shape;433;p48"/>
            <p:cNvSpPr/>
            <p:nvPr/>
          </p:nvSpPr>
          <p:spPr>
            <a:xfrm>
              <a:off x="0" y="0"/>
              <a:ext cx="3810000" cy="24765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8"/>
            <p:cNvSpPr txBox="1"/>
            <p:nvPr/>
          </p:nvSpPr>
          <p:spPr>
            <a:xfrm>
              <a:off x="228600" y="228600"/>
              <a:ext cx="33528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Write 2: Analytics Warehouse</a:t>
              </a:r>
              <a:endParaRPr b="1" sz="16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Streams transaction records directly to BigQuery.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bigquery_client.insert_rows_json(</a:t>
              </a:r>
              <a:endParaRPr sz="1100">
                <a:solidFill>
                  <a:srgbClr val="38BDF8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TABLE_FULL_ID,</a:t>
              </a:r>
              <a:endParaRPr sz="1100">
                <a:solidFill>
                  <a:srgbClr val="38BDF8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[row]</a:t>
              </a:r>
              <a:endParaRPr sz="1100">
                <a:solidFill>
                  <a:srgbClr val="38BDF8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38BDF8"/>
                </a:solidFill>
                <a:highlight>
                  <a:srgbClr val="0F172A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➔ Analytics record storage</a:t>
              </a:r>
              <a:endParaRPr b="0" sz="1100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35" name="Google Shape;435;p48"/>
          <p:cNvGrpSpPr/>
          <p:nvPr/>
        </p:nvGrpSpPr>
        <p:grpSpPr>
          <a:xfrm>
            <a:off x="566738" y="3805238"/>
            <a:ext cx="8010600" cy="866700"/>
            <a:chOff x="-4762" y="-4762"/>
            <a:chExt cx="8010600" cy="866700"/>
          </a:xfrm>
        </p:grpSpPr>
        <p:pic>
          <p:nvPicPr>
            <p:cNvPr id="436" name="Google Shape;436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8010600" cy="8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48"/>
            <p:cNvSpPr txBox="1"/>
            <p:nvPr/>
          </p:nvSpPr>
          <p:spPr>
            <a:xfrm>
              <a:off x="228600" y="142875"/>
              <a:ext cx="7543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TEACHING POINT</a:t>
              </a:r>
              <a:endParaRPr b="1" sz="92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203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"The same business event can be represented differently for operational use and analytical use."</a:t>
              </a:r>
              <a:endParaRPr b="0" i="1" sz="1203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Configure IAM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43" name="Google Shape;443;p49"/>
          <p:cNvGrpSpPr/>
          <p:nvPr/>
        </p:nvGrpSpPr>
        <p:grpSpPr>
          <a:xfrm>
            <a:off x="571500" y="1333500"/>
            <a:ext cx="3810000" cy="3263250"/>
            <a:chOff x="571500" y="1333500"/>
            <a:chExt cx="3810000" cy="3263250"/>
          </a:xfrm>
        </p:grpSpPr>
        <p:sp>
          <p:nvSpPr>
            <p:cNvPr id="444" name="Google Shape;444;p49"/>
            <p:cNvSpPr/>
            <p:nvPr/>
          </p:nvSpPr>
          <p:spPr>
            <a:xfrm>
              <a:off x="571500" y="1333500"/>
              <a:ext cx="3810000" cy="2857500"/>
            </a:xfrm>
            <a:prstGeom prst="roundRect">
              <a:avLst>
                <a:gd fmla="val 400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9"/>
            <p:cNvSpPr/>
            <p:nvPr/>
          </p:nvSpPr>
          <p:spPr>
            <a:xfrm>
              <a:off x="571500" y="133350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9"/>
            <p:cNvSpPr txBox="1"/>
            <p:nvPr/>
          </p:nvSpPr>
          <p:spPr>
            <a:xfrm>
              <a:off x="571500" y="1522350"/>
              <a:ext cx="3810000" cy="30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Concept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Service Identity &amp; IAM</a:t>
              </a:r>
              <a:endParaRPr b="1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Cloud Run uses a </a:t>
              </a:r>
              <a:r>
                <a:rPr b="1" lang="en" sz="1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service account</a:t>
              </a:r>
              <a:r>
                <a:rPr b="0" lang="en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as its service identity when its code calls Google Cloud APIs.</a:t>
              </a:r>
              <a:endParaRPr b="0" sz="1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700">
                  <a:solidFill>
                    <a:srgbClr val="CBD5E1"/>
                  </a:solidFill>
                  <a:highlight>
                    <a:srgbClr val="0F172A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Learn how to securely authorize application access between serverless services.</a:t>
              </a:r>
              <a:endParaRPr b="0" sz="1700">
                <a:solidFill>
                  <a:srgbClr val="CBD5E1"/>
                </a:solidFill>
                <a:highlight>
                  <a:srgbClr val="0F172A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47" name="Google Shape;447;p49"/>
          <p:cNvGrpSpPr/>
          <p:nvPr/>
        </p:nvGrpSpPr>
        <p:grpSpPr>
          <a:xfrm>
            <a:off x="4762500" y="1333500"/>
            <a:ext cx="3810000" cy="2857500"/>
            <a:chOff x="4762500" y="1333500"/>
            <a:chExt cx="3810000" cy="2857500"/>
          </a:xfrm>
        </p:grpSpPr>
        <p:sp>
          <p:nvSpPr>
            <p:cNvPr id="448" name="Google Shape;448;p49"/>
            <p:cNvSpPr/>
            <p:nvPr/>
          </p:nvSpPr>
          <p:spPr>
            <a:xfrm>
              <a:off x="4762500" y="1333500"/>
              <a:ext cx="3810000" cy="2857500"/>
            </a:xfrm>
            <a:prstGeom prst="roundRect">
              <a:avLst>
                <a:gd fmla="val 400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9"/>
            <p:cNvSpPr/>
            <p:nvPr/>
          </p:nvSpPr>
          <p:spPr>
            <a:xfrm>
              <a:off x="4762500" y="133350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9"/>
            <p:cNvSpPr txBox="1"/>
            <p:nvPr/>
          </p:nvSpPr>
          <p:spPr>
            <a:xfrm>
              <a:off x="4991100" y="1619250"/>
              <a:ext cx="33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Required Access</a:t>
              </a:r>
              <a:endParaRPr b="1" sz="10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300"/>
                </a:spcAft>
                <a:buNone/>
              </a:pPr>
              <a:r>
                <a:rPr b="1" lang="en" sz="16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Allow Cloud Run to access:</a:t>
              </a:r>
              <a:endParaRPr b="1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1" name="Google Shape;451;p49"/>
          <p:cNvGrpSpPr/>
          <p:nvPr/>
        </p:nvGrpSpPr>
        <p:grpSpPr>
          <a:xfrm>
            <a:off x="4991100" y="2333625"/>
            <a:ext cx="3352800" cy="619200"/>
            <a:chOff x="0" y="0"/>
            <a:chExt cx="3352800" cy="619200"/>
          </a:xfrm>
        </p:grpSpPr>
        <p:sp>
          <p:nvSpPr>
            <p:cNvPr id="452" name="Google Shape;452;p49"/>
            <p:cNvSpPr/>
            <p:nvPr/>
          </p:nvSpPr>
          <p:spPr>
            <a:xfrm>
              <a:off x="0" y="0"/>
              <a:ext cx="3352800" cy="619200"/>
            </a:xfrm>
            <a:prstGeom prst="roundRect">
              <a:avLst>
                <a:gd fmla="val 12307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9"/>
            <p:cNvSpPr/>
            <p:nvPr/>
          </p:nvSpPr>
          <p:spPr>
            <a:xfrm>
              <a:off x="0" y="0"/>
              <a:ext cx="57300" cy="619200"/>
            </a:xfrm>
            <a:prstGeom prst="roundRect">
              <a:avLst>
                <a:gd fmla="val 50000" name="adj"/>
              </a:avLst>
            </a:prstGeom>
            <a:solidFill>
              <a:srgbClr val="FBBF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9"/>
            <p:cNvSpPr txBox="1"/>
            <p:nvPr/>
          </p:nvSpPr>
          <p:spPr>
            <a:xfrm>
              <a:off x="190500" y="0"/>
              <a:ext cx="2971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BF24"/>
                  </a:solidFill>
                  <a:latin typeface="Inter"/>
                  <a:ea typeface="Inter"/>
                  <a:cs typeface="Inter"/>
                  <a:sym typeface="Inter"/>
                </a:rPr>
                <a:t>Firestore</a:t>
              </a:r>
              <a:endParaRPr b="1" sz="1300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Operational Database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5" name="Google Shape;455;p49"/>
          <p:cNvGrpSpPr/>
          <p:nvPr/>
        </p:nvGrpSpPr>
        <p:grpSpPr>
          <a:xfrm>
            <a:off x="4991100" y="3095625"/>
            <a:ext cx="3352800" cy="619200"/>
            <a:chOff x="0" y="0"/>
            <a:chExt cx="3352800" cy="619200"/>
          </a:xfrm>
        </p:grpSpPr>
        <p:sp>
          <p:nvSpPr>
            <p:cNvPr id="456" name="Google Shape;456;p49"/>
            <p:cNvSpPr/>
            <p:nvPr/>
          </p:nvSpPr>
          <p:spPr>
            <a:xfrm>
              <a:off x="0" y="0"/>
              <a:ext cx="3352800" cy="619200"/>
            </a:xfrm>
            <a:prstGeom prst="roundRect">
              <a:avLst>
                <a:gd fmla="val 12307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9"/>
            <p:cNvSpPr/>
            <p:nvPr/>
          </p:nvSpPr>
          <p:spPr>
            <a:xfrm>
              <a:off x="0" y="0"/>
              <a:ext cx="57300" cy="619200"/>
            </a:xfrm>
            <a:prstGeom prst="roundRect">
              <a:avLst>
                <a:gd fmla="val 500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9"/>
            <p:cNvSpPr txBox="1"/>
            <p:nvPr/>
          </p:nvSpPr>
          <p:spPr>
            <a:xfrm>
              <a:off x="190500" y="0"/>
              <a:ext cx="2971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BigQuery</a:t>
              </a:r>
              <a:endParaRPr b="1" sz="13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Analytics Warehouse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50"/>
          <p:cNvGrpSpPr/>
          <p:nvPr/>
        </p:nvGrpSpPr>
        <p:grpSpPr>
          <a:xfrm>
            <a:off x="571500" y="476250"/>
            <a:ext cx="8001000" cy="571500"/>
            <a:chOff x="0" y="0"/>
            <a:chExt cx="8001000" cy="571500"/>
          </a:xfrm>
        </p:grpSpPr>
        <p:sp>
          <p:nvSpPr>
            <p:cNvPr id="464" name="Google Shape;464;p50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0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Find the Project Number</a:t>
              </a:r>
              <a:endParaRPr b="0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66" name="Google Shape;466;p50"/>
          <p:cNvGrpSpPr/>
          <p:nvPr/>
        </p:nvGrpSpPr>
        <p:grpSpPr>
          <a:xfrm>
            <a:off x="571500" y="1333500"/>
            <a:ext cx="3810000" cy="3238500"/>
            <a:chOff x="0" y="0"/>
            <a:chExt cx="3810000" cy="3238500"/>
          </a:xfrm>
        </p:grpSpPr>
        <p:sp>
          <p:nvSpPr>
            <p:cNvPr id="467" name="Google Shape;467;p50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50"/>
            <p:cNvSpPr/>
            <p:nvPr/>
          </p:nvSpPr>
          <p:spPr>
            <a:xfrm>
              <a:off x="0" y="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9" name="Google Shape;469;p50"/>
            <p:cNvGrpSpPr/>
            <p:nvPr/>
          </p:nvGrpSpPr>
          <p:grpSpPr>
            <a:xfrm>
              <a:off x="111325" y="150925"/>
              <a:ext cx="3544200" cy="2859000"/>
              <a:chOff x="-117275" y="-77675"/>
              <a:chExt cx="3544200" cy="2859000"/>
            </a:xfrm>
          </p:grpSpPr>
          <p:sp>
            <p:nvSpPr>
              <p:cNvPr id="470" name="Google Shape;470;p50"/>
              <p:cNvSpPr/>
              <p:nvPr/>
            </p:nvSpPr>
            <p:spPr>
              <a:xfrm>
                <a:off x="0" y="0"/>
                <a:ext cx="33528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50"/>
              <p:cNvSpPr txBox="1"/>
              <p:nvPr/>
            </p:nvSpPr>
            <p:spPr>
              <a:xfrm>
                <a:off x="-117275" y="-77675"/>
                <a:ext cx="3544200" cy="28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GET PROJECT NUMBER</a:t>
                </a:r>
                <a:endParaRPr b="1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Run Command</a:t>
                </a:r>
                <a:endParaRPr b="1" sz="19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 this gcloud command in your terminal to retrieve the project number:</a:t>
                </a:r>
                <a:endParaRPr b="0" sz="15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cd project ID</a:t>
                </a:r>
                <a:endParaRPr sz="15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" sz="1125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gcloud projects describe YOUR_PROJECT_ID \</a:t>
                </a:r>
                <a:br>
                  <a:rPr lang="en" sz="1125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</a:br>
                <a:r>
                  <a:rPr lang="en" sz="1125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--format="value(projectNumber)"</a:t>
                </a:r>
                <a:endParaRPr sz="1125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Example Output:</a:t>
                </a:r>
                <a:endParaRPr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BBF2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123456789012</a:t>
                </a:r>
                <a:endParaRPr b="1" sz="1400">
                  <a:solidFill>
                    <a:srgbClr val="FBBF2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472" name="Google Shape;472;p50"/>
          <p:cNvGrpSpPr/>
          <p:nvPr/>
        </p:nvGrpSpPr>
        <p:grpSpPr>
          <a:xfrm>
            <a:off x="4762500" y="1333500"/>
            <a:ext cx="3810000" cy="3238500"/>
            <a:chOff x="0" y="0"/>
            <a:chExt cx="3810000" cy="3238500"/>
          </a:xfrm>
        </p:grpSpPr>
        <p:sp>
          <p:nvSpPr>
            <p:cNvPr id="473" name="Google Shape;473;p50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0"/>
            <p:cNvSpPr/>
            <p:nvPr/>
          </p:nvSpPr>
          <p:spPr>
            <a:xfrm>
              <a:off x="0" y="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5" name="Google Shape;475;p50"/>
            <p:cNvGrpSpPr/>
            <p:nvPr/>
          </p:nvGrpSpPr>
          <p:grpSpPr>
            <a:xfrm>
              <a:off x="228600" y="169475"/>
              <a:ext cx="3492600" cy="3069000"/>
              <a:chOff x="0" y="-59125"/>
              <a:chExt cx="3492600" cy="3069000"/>
            </a:xfrm>
          </p:grpSpPr>
          <p:sp>
            <p:nvSpPr>
              <p:cNvPr id="476" name="Google Shape;476;p50"/>
              <p:cNvSpPr/>
              <p:nvPr/>
            </p:nvSpPr>
            <p:spPr>
              <a:xfrm>
                <a:off x="0" y="0"/>
                <a:ext cx="33528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50"/>
              <p:cNvSpPr txBox="1"/>
              <p:nvPr/>
            </p:nvSpPr>
            <p:spPr>
              <a:xfrm>
                <a:off x="0" y="-59125"/>
                <a:ext cx="3492600" cy="306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A855F7"/>
                    </a:solidFill>
                    <a:latin typeface="Inter"/>
                    <a:ea typeface="Inter"/>
                    <a:cs typeface="Inter"/>
                    <a:sym typeface="Inter"/>
                  </a:rPr>
                  <a:t>SERVICE IDENTITY</a:t>
                </a:r>
                <a:endParaRPr b="1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Default Service Account</a:t>
                </a:r>
                <a:endParaRPr b="1" sz="16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7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The default Compute Engine service account format is constructed using the project number:</a:t>
                </a:r>
                <a:endParaRPr b="0" sz="17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" sz="1325">
                    <a:solidFill>
                      <a:srgbClr val="34D399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123456789012-compute@developer.gserviceaccount.com</a:t>
                </a:r>
                <a:endParaRPr sz="1325">
                  <a:solidFill>
                    <a:srgbClr val="34D399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➔ Generally pre-configured with required access</a:t>
                </a:r>
                <a:endParaRPr b="0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482;p51"/>
          <p:cNvGrpSpPr/>
          <p:nvPr/>
        </p:nvGrpSpPr>
        <p:grpSpPr>
          <a:xfrm>
            <a:off x="571500" y="476250"/>
            <a:ext cx="8001000" cy="571500"/>
            <a:chOff x="0" y="0"/>
            <a:chExt cx="8001000" cy="571500"/>
          </a:xfrm>
        </p:grpSpPr>
        <p:sp>
          <p:nvSpPr>
            <p:cNvPr id="483" name="Google Shape;483;p51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51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Give Cloud Run access to Firestore</a:t>
              </a:r>
              <a:endParaRPr b="0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85" name="Google Shape;485;p51"/>
          <p:cNvGrpSpPr/>
          <p:nvPr/>
        </p:nvGrpSpPr>
        <p:grpSpPr>
          <a:xfrm>
            <a:off x="571500" y="1333500"/>
            <a:ext cx="3810000" cy="3238500"/>
            <a:chOff x="0" y="0"/>
            <a:chExt cx="3810000" cy="3238500"/>
          </a:xfrm>
        </p:grpSpPr>
        <p:sp>
          <p:nvSpPr>
            <p:cNvPr id="486" name="Google Shape;486;p51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1"/>
            <p:cNvSpPr/>
            <p:nvPr/>
          </p:nvSpPr>
          <p:spPr>
            <a:xfrm>
              <a:off x="0" y="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8" name="Google Shape;488;p51"/>
            <p:cNvGrpSpPr/>
            <p:nvPr/>
          </p:nvGrpSpPr>
          <p:grpSpPr>
            <a:xfrm>
              <a:off x="228600" y="228600"/>
              <a:ext cx="3352800" cy="2781300"/>
              <a:chOff x="0" y="0"/>
              <a:chExt cx="3352800" cy="2781300"/>
            </a:xfrm>
          </p:grpSpPr>
          <p:sp>
            <p:nvSpPr>
              <p:cNvPr id="489" name="Google Shape;489;p51"/>
              <p:cNvSpPr/>
              <p:nvPr/>
            </p:nvSpPr>
            <p:spPr>
              <a:xfrm>
                <a:off x="0" y="0"/>
                <a:ext cx="33528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51"/>
              <p:cNvSpPr txBox="1"/>
              <p:nvPr/>
            </p:nvSpPr>
            <p:spPr>
              <a:xfrm>
                <a:off x="0" y="0"/>
                <a:ext cx="33528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25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 IN TERMINAL</a:t>
                </a:r>
                <a:endParaRPr b="1" sz="62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25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Add IAM Binding</a:t>
                </a:r>
                <a:endParaRPr b="1" sz="62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388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R</a:t>
                </a:r>
                <a:r>
                  <a:rPr b="0" lang="en" sz="1288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un this command to grant the default Compute Engine service account access to Firestore:</a:t>
                </a:r>
                <a:endParaRPr b="1" sz="122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b="0" lang="en" sz="1131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gcloud projects add-iam-policy-binding YOUR_PROJECT_ID \</a:t>
                </a:r>
                <a:br>
                  <a:rPr b="0" lang="en" sz="1131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</a:br>
                <a:r>
                  <a:rPr b="0" lang="en" sz="1131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  --member="serviceAccount:</a:t>
                </a:r>
                <a:r>
                  <a:rPr b="1" lang="en" sz="1131">
                    <a:solidFill>
                      <a:srgbClr val="FBBF24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PROJECT_NUMBER</a:t>
                </a:r>
                <a:r>
                  <a:rPr b="0" lang="en" sz="1131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-compute@developer.gserviceaccount.com" \</a:t>
                </a:r>
                <a:br>
                  <a:rPr b="0" lang="en" sz="1131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</a:br>
                <a:r>
                  <a:rPr b="0" lang="en" sz="1131">
                    <a:solidFill>
                      <a:srgbClr val="38BDF8"/>
                    </a:solidFill>
                    <a:highlight>
                      <a:srgbClr val="0F172A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  --role="roles/datastore.user"</a:t>
                </a:r>
                <a:endParaRPr b="0" sz="1131">
                  <a:solidFill>
                    <a:srgbClr val="38BDF8"/>
                  </a:solidFill>
                  <a:highlight>
                    <a:srgbClr val="0F172A"/>
                  </a:highlight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491" name="Google Shape;491;p51"/>
          <p:cNvGrpSpPr/>
          <p:nvPr/>
        </p:nvGrpSpPr>
        <p:grpSpPr>
          <a:xfrm>
            <a:off x="4762500" y="1333500"/>
            <a:ext cx="3810000" cy="3238500"/>
            <a:chOff x="0" y="0"/>
            <a:chExt cx="3810000" cy="3238500"/>
          </a:xfrm>
        </p:grpSpPr>
        <p:sp>
          <p:nvSpPr>
            <p:cNvPr id="492" name="Google Shape;492;p51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1"/>
            <p:cNvSpPr/>
            <p:nvPr/>
          </p:nvSpPr>
          <p:spPr>
            <a:xfrm>
              <a:off x="0" y="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4" name="Google Shape;494;p51"/>
            <p:cNvGrpSpPr/>
            <p:nvPr/>
          </p:nvGrpSpPr>
          <p:grpSpPr>
            <a:xfrm>
              <a:off x="228600" y="228600"/>
              <a:ext cx="3352800" cy="2781300"/>
              <a:chOff x="0" y="0"/>
              <a:chExt cx="3352800" cy="2781300"/>
            </a:xfrm>
          </p:grpSpPr>
          <p:sp>
            <p:nvSpPr>
              <p:cNvPr id="495" name="Google Shape;495;p51"/>
              <p:cNvSpPr/>
              <p:nvPr/>
            </p:nvSpPr>
            <p:spPr>
              <a:xfrm>
                <a:off x="0" y="0"/>
                <a:ext cx="33528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51"/>
              <p:cNvSpPr txBox="1"/>
              <p:nvPr/>
            </p:nvSpPr>
            <p:spPr>
              <a:xfrm>
                <a:off x="0" y="0"/>
                <a:ext cx="33528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A855F7"/>
                    </a:solidFill>
                    <a:latin typeface="Inter"/>
                    <a:ea typeface="Inter"/>
                    <a:cs typeface="Inter"/>
                    <a:sym typeface="Inter"/>
                  </a:rPr>
                  <a:t>ROLE &amp; PARAMETERS</a:t>
                </a:r>
                <a:endParaRPr b="1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Configuration Details</a:t>
                </a:r>
                <a:endParaRPr b="1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1. Replace Project Number</a:t>
                </a:r>
                <a:endParaRPr b="1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Ensure you replace </a:t>
                </a:r>
                <a:r>
                  <a:rPr b="1" lang="en" sz="1100">
                    <a:solidFill>
                      <a:srgbClr val="FBBF2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PROJECT_NUMBER</a:t>
                </a: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with your actual GCP project number.</a:t>
                </a:r>
                <a:endParaRPr b="1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4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2. Datastore User Role</a:t>
                </a:r>
                <a:endParaRPr b="1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The </a:t>
                </a:r>
                <a:r>
                  <a:rPr b="1" lang="en" sz="1100">
                    <a:solidFill>
                      <a:srgbClr val="34D399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roles/datastore.user</a:t>
                </a: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role provides full read/write access to data in your Firestore/Datastore database.</a:t>
                </a:r>
                <a:endParaRPr b="1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00" y="379213"/>
            <a:ext cx="8839204" cy="438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3"/>
          <p:cNvSpPr txBox="1"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Give Cloud Run access to BigQuery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07" name="Google Shape;507;p53"/>
          <p:cNvGrpSpPr/>
          <p:nvPr/>
        </p:nvGrpSpPr>
        <p:grpSpPr>
          <a:xfrm>
            <a:off x="571500" y="1333500"/>
            <a:ext cx="3810000" cy="2381400"/>
            <a:chOff x="0" y="0"/>
            <a:chExt cx="3810000" cy="2381400"/>
          </a:xfrm>
        </p:grpSpPr>
        <p:sp>
          <p:nvSpPr>
            <p:cNvPr id="508" name="Google Shape;508;p53"/>
            <p:cNvSpPr/>
            <p:nvPr/>
          </p:nvSpPr>
          <p:spPr>
            <a:xfrm>
              <a:off x="0" y="0"/>
              <a:ext cx="3810000" cy="2381400"/>
            </a:xfrm>
            <a:prstGeom prst="roundRect">
              <a:avLst>
                <a:gd fmla="val 480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3"/>
            <p:cNvSpPr/>
            <p:nvPr/>
          </p:nvSpPr>
          <p:spPr>
            <a:xfrm>
              <a:off x="0" y="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53"/>
            <p:cNvSpPr txBox="1"/>
            <p:nvPr/>
          </p:nvSpPr>
          <p:spPr>
            <a:xfrm>
              <a:off x="228600" y="228600"/>
              <a:ext cx="3352800" cy="19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ROLE &amp; PERMISSION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BigQuery Data Editor</a:t>
              </a:r>
              <a:endParaRPr b="1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This allows the application to read and write the table data.</a:t>
              </a:r>
              <a:endParaRPr b="0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1" name="Google Shape;511;p53"/>
          <p:cNvGrpSpPr/>
          <p:nvPr/>
        </p:nvGrpSpPr>
        <p:grpSpPr>
          <a:xfrm>
            <a:off x="4762500" y="1333500"/>
            <a:ext cx="3810000" cy="2381400"/>
            <a:chOff x="0" y="0"/>
            <a:chExt cx="3810000" cy="2381400"/>
          </a:xfrm>
        </p:grpSpPr>
        <p:sp>
          <p:nvSpPr>
            <p:cNvPr id="512" name="Google Shape;512;p53"/>
            <p:cNvSpPr/>
            <p:nvPr/>
          </p:nvSpPr>
          <p:spPr>
            <a:xfrm>
              <a:off x="0" y="0"/>
              <a:ext cx="3810000" cy="2381400"/>
            </a:xfrm>
            <a:prstGeom prst="roundRect">
              <a:avLst>
                <a:gd fmla="val 480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53"/>
            <p:cNvSpPr/>
            <p:nvPr/>
          </p:nvSpPr>
          <p:spPr>
            <a:xfrm>
              <a:off x="0" y="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53"/>
            <p:cNvSpPr txBox="1"/>
            <p:nvPr/>
          </p:nvSpPr>
          <p:spPr>
            <a:xfrm>
              <a:off x="228600" y="228600"/>
              <a:ext cx="3352800" cy="19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ROLE &amp; PERMISSION</a:t>
              </a:r>
              <a:endParaRPr b="1" sz="10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BigQuery Job User</a:t>
              </a:r>
              <a:endParaRPr b="1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This allows the application to run BigQuery queries.</a:t>
              </a:r>
              <a:endParaRPr b="0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15" name="Google Shape;515;p53"/>
          <p:cNvSpPr txBox="1"/>
          <p:nvPr/>
        </p:nvSpPr>
        <p:spPr>
          <a:xfrm>
            <a:off x="571500" y="3952875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Note:</a:t>
            </a:r>
            <a:r>
              <a:rPr b="0" lang="en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Google's current IAM documentation states that BigQuery Data Editor granted at dataset level allows reading and updating table data, while BigQuery Job User provides permission to run jobs such as queries.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54"/>
          <p:cNvGrpSpPr/>
          <p:nvPr/>
        </p:nvGrpSpPr>
        <p:grpSpPr>
          <a:xfrm>
            <a:off x="476250" y="428625"/>
            <a:ext cx="8191500" cy="571500"/>
            <a:chOff x="0" y="0"/>
            <a:chExt cx="8191500" cy="571500"/>
          </a:xfrm>
        </p:grpSpPr>
        <p:sp>
          <p:nvSpPr>
            <p:cNvPr id="521" name="Google Shape;521;p54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54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Configure Service Identity Permissions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23" name="Google Shape;523;p54"/>
          <p:cNvGrpSpPr/>
          <p:nvPr/>
        </p:nvGrpSpPr>
        <p:grpSpPr>
          <a:xfrm>
            <a:off x="476250" y="1190625"/>
            <a:ext cx="4095900" cy="3476700"/>
            <a:chOff x="0" y="0"/>
            <a:chExt cx="4095900" cy="3476700"/>
          </a:xfrm>
        </p:grpSpPr>
        <p:sp>
          <p:nvSpPr>
            <p:cNvPr id="524" name="Google Shape;524;p54"/>
            <p:cNvSpPr/>
            <p:nvPr/>
          </p:nvSpPr>
          <p:spPr>
            <a:xfrm>
              <a:off x="0" y="0"/>
              <a:ext cx="4095900" cy="3476700"/>
            </a:xfrm>
            <a:prstGeom prst="roundRect">
              <a:avLst>
                <a:gd fmla="val 3287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4"/>
            <p:cNvSpPr/>
            <p:nvPr/>
          </p:nvSpPr>
          <p:spPr>
            <a:xfrm>
              <a:off x="0" y="0"/>
              <a:ext cx="40959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4"/>
            <p:cNvSpPr txBox="1"/>
            <p:nvPr/>
          </p:nvSpPr>
          <p:spPr>
            <a:xfrm>
              <a:off x="190500" y="190500"/>
              <a:ext cx="37149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STEP 1: DATASET ACCESS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gcloud projects</a:t>
              </a:r>
              <a:r>
                <a:rPr lang="en" sz="1000">
                  <a:solidFill>
                    <a:schemeClr val="lt1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000">
                  <a:solidFill>
                    <a:srgbClr val="F1F5F9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add-iam-policy-binding \</a:t>
              </a:r>
              <a:br>
                <a:rPr lang="en" sz="1000">
                  <a:solidFill>
                    <a:srgbClr val="F1F5F9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1000">
                  <a:solidFill>
                    <a:srgbClr val="94A3B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YOUR_PROJECT_ID:community_analytics \</a:t>
              </a:r>
              <a:br>
                <a:rPr lang="en" sz="1000">
                  <a:solidFill>
                    <a:srgbClr val="F1F5F9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1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--member="serviceAccount:PROJECT_NUMBER... \</a:t>
              </a:r>
              <a:br>
                <a:rPr lang="en" sz="1000">
                  <a:solidFill>
                    <a:srgbClr val="F1F5F9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1000">
                  <a:solidFill>
                    <a:srgbClr val="F59E0B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--role="roles/bigquery.dataEditor"</a:t>
              </a:r>
              <a:endParaRPr sz="1000">
                <a:solidFill>
                  <a:srgbClr val="F1F5F9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STEP 2: JOB CREATION POWER</a:t>
              </a:r>
              <a:endParaRPr b="1" sz="11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1F5F9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gcloud projects add-iam-policy-binding \</a:t>
              </a:r>
              <a:br>
                <a:rPr lang="en" sz="1000">
                  <a:solidFill>
                    <a:srgbClr val="F1F5F9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1000">
                  <a:solidFill>
                    <a:srgbClr val="94A3B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YOUR_PROJECT_ID \</a:t>
              </a:r>
              <a:br>
                <a:rPr lang="en" sz="1000">
                  <a:solidFill>
                    <a:srgbClr val="F1F5F9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1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--member="serviceAccount:PROJECT_NUMBER... \</a:t>
              </a:r>
              <a:br>
                <a:rPr lang="en" sz="1000">
                  <a:solidFill>
                    <a:srgbClr val="F1F5F9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1000">
                  <a:solidFill>
                    <a:srgbClr val="F59E0B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--role="roles/bigquery.jobUser"</a:t>
              </a:r>
              <a:endParaRPr sz="1000">
                <a:solidFill>
                  <a:srgbClr val="F1F5F9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27" name="Google Shape;527;p54"/>
          <p:cNvGrpSpPr/>
          <p:nvPr/>
        </p:nvGrpSpPr>
        <p:grpSpPr>
          <a:xfrm>
            <a:off x="4857750" y="1190625"/>
            <a:ext cx="3810000" cy="428700"/>
            <a:chOff x="0" y="0"/>
            <a:chExt cx="3810000" cy="428700"/>
          </a:xfrm>
        </p:grpSpPr>
        <p:sp>
          <p:nvSpPr>
            <p:cNvPr id="528" name="Google Shape;528;p54"/>
            <p:cNvSpPr/>
            <p:nvPr/>
          </p:nvSpPr>
          <p:spPr>
            <a:xfrm>
              <a:off x="0" y="0"/>
              <a:ext cx="3810000" cy="428700"/>
            </a:xfrm>
            <a:prstGeom prst="roundRect">
              <a:avLst>
                <a:gd fmla="val 17777" name="adj"/>
              </a:avLst>
            </a:prstGeom>
            <a:solidFill>
              <a:srgbClr val="0F172A"/>
            </a:solidFill>
            <a:ln cap="flat" cmpd="sng" w="143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54"/>
            <p:cNvSpPr txBox="1"/>
            <p:nvPr/>
          </p:nvSpPr>
          <p:spPr>
            <a:xfrm>
              <a:off x="142875" y="0"/>
              <a:ext cx="352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Cloud Run Service Identity</a:t>
              </a:r>
              <a:endParaRPr b="1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0" name="Google Shape;530;p54"/>
          <p:cNvGrpSpPr/>
          <p:nvPr/>
        </p:nvGrpSpPr>
        <p:grpSpPr>
          <a:xfrm>
            <a:off x="4857750" y="1809750"/>
            <a:ext cx="3810000" cy="809700"/>
            <a:chOff x="0" y="0"/>
            <a:chExt cx="3810000" cy="809700"/>
          </a:xfrm>
        </p:grpSpPr>
        <p:sp>
          <p:nvSpPr>
            <p:cNvPr id="531" name="Google Shape;531;p54"/>
            <p:cNvSpPr/>
            <p:nvPr/>
          </p:nvSpPr>
          <p:spPr>
            <a:xfrm>
              <a:off x="0" y="0"/>
              <a:ext cx="3810000" cy="809700"/>
            </a:xfrm>
            <a:prstGeom prst="roundRect">
              <a:avLst>
                <a:gd fmla="val 1176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4"/>
            <p:cNvSpPr txBox="1"/>
            <p:nvPr/>
          </p:nvSpPr>
          <p:spPr>
            <a:xfrm>
              <a:off x="190500" y="114300"/>
              <a:ext cx="34290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ROLE: </a:t>
              </a:r>
              <a:r>
                <a:rPr b="0" lang="en" sz="10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roles/datastore.user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➔ Firestore</a:t>
              </a:r>
              <a:endParaRPr b="1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3" name="Google Shape;533;p54"/>
          <p:cNvGrpSpPr/>
          <p:nvPr/>
        </p:nvGrpSpPr>
        <p:grpSpPr>
          <a:xfrm>
            <a:off x="4857750" y="2714625"/>
            <a:ext cx="3810000" cy="809700"/>
            <a:chOff x="0" y="0"/>
            <a:chExt cx="3810000" cy="809700"/>
          </a:xfrm>
        </p:grpSpPr>
        <p:sp>
          <p:nvSpPr>
            <p:cNvPr id="534" name="Google Shape;534;p54"/>
            <p:cNvSpPr/>
            <p:nvPr/>
          </p:nvSpPr>
          <p:spPr>
            <a:xfrm>
              <a:off x="0" y="0"/>
              <a:ext cx="3810000" cy="809700"/>
            </a:xfrm>
            <a:prstGeom prst="roundRect">
              <a:avLst>
                <a:gd fmla="val 1176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54"/>
            <p:cNvSpPr txBox="1"/>
            <p:nvPr/>
          </p:nvSpPr>
          <p:spPr>
            <a:xfrm>
              <a:off x="190500" y="114300"/>
              <a:ext cx="34290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ROLE: </a:t>
              </a:r>
              <a:r>
                <a:rPr b="0" lang="en" sz="10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roles/bigquery.dataEditor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➔ BigQuery Dataset</a:t>
              </a:r>
              <a:endParaRPr b="1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6" name="Google Shape;536;p54"/>
          <p:cNvGrpSpPr/>
          <p:nvPr/>
        </p:nvGrpSpPr>
        <p:grpSpPr>
          <a:xfrm>
            <a:off x="4857750" y="3619500"/>
            <a:ext cx="3810000" cy="809700"/>
            <a:chOff x="0" y="0"/>
            <a:chExt cx="3810000" cy="809700"/>
          </a:xfrm>
        </p:grpSpPr>
        <p:sp>
          <p:nvSpPr>
            <p:cNvPr id="537" name="Google Shape;537;p54"/>
            <p:cNvSpPr/>
            <p:nvPr/>
          </p:nvSpPr>
          <p:spPr>
            <a:xfrm>
              <a:off x="0" y="0"/>
              <a:ext cx="3810000" cy="809700"/>
            </a:xfrm>
            <a:prstGeom prst="roundRect">
              <a:avLst>
                <a:gd fmla="val 1176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54"/>
            <p:cNvSpPr txBox="1"/>
            <p:nvPr/>
          </p:nvSpPr>
          <p:spPr>
            <a:xfrm>
              <a:off x="190500" y="114300"/>
              <a:ext cx="34290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ROLE: </a:t>
              </a:r>
              <a:r>
                <a:rPr b="0" lang="en" sz="10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roles/bigquery.jobUser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➔ BigQuery Queries</a:t>
              </a:r>
              <a:endParaRPr b="1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9" name="Google Shape;539;p54"/>
          <p:cNvGrpSpPr/>
          <p:nvPr/>
        </p:nvGrpSpPr>
        <p:grpSpPr>
          <a:xfrm>
            <a:off x="476250" y="4743450"/>
            <a:ext cx="8191500" cy="285900"/>
            <a:chOff x="0" y="0"/>
            <a:chExt cx="8191500" cy="285900"/>
          </a:xfrm>
        </p:grpSpPr>
        <p:sp>
          <p:nvSpPr>
            <p:cNvPr id="540" name="Google Shape;540;p54"/>
            <p:cNvSpPr/>
            <p:nvPr/>
          </p:nvSpPr>
          <p:spPr>
            <a:xfrm>
              <a:off x="0" y="0"/>
              <a:ext cx="8191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4"/>
            <p:cNvSpPr txBox="1"/>
            <p:nvPr/>
          </p:nvSpPr>
          <p:spPr>
            <a:xfrm>
              <a:off x="0" y="0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This architecture safely limits access to only required Firestore and BigQuery resources.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55"/>
          <p:cNvGrpSpPr/>
          <p:nvPr/>
        </p:nvGrpSpPr>
        <p:grpSpPr>
          <a:xfrm>
            <a:off x="615800" y="129600"/>
            <a:ext cx="8191500" cy="571500"/>
            <a:chOff x="0" y="0"/>
            <a:chExt cx="8191500" cy="571500"/>
          </a:xfrm>
        </p:grpSpPr>
        <p:sp>
          <p:nvSpPr>
            <p:cNvPr id="547" name="Google Shape;547;p55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55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Configure Service Identity Permissions bigQuery. dataEditor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549" name="Google Shape;549;p55"/>
          <p:cNvSpPr/>
          <p:nvPr/>
        </p:nvSpPr>
        <p:spPr>
          <a:xfrm>
            <a:off x="476250" y="4743450"/>
            <a:ext cx="819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53500"/>
            <a:ext cx="8629658" cy="3737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56"/>
          <p:cNvGrpSpPr/>
          <p:nvPr/>
        </p:nvGrpSpPr>
        <p:grpSpPr>
          <a:xfrm>
            <a:off x="615800" y="129600"/>
            <a:ext cx="8191500" cy="571500"/>
            <a:chOff x="0" y="0"/>
            <a:chExt cx="8191500" cy="571500"/>
          </a:xfrm>
        </p:grpSpPr>
        <p:sp>
          <p:nvSpPr>
            <p:cNvPr id="556" name="Google Shape;556;p56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56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Configure Service Identity Permissions bigQuery. </a:t>
              </a:r>
              <a:r>
                <a:rPr lang="en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jobUser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558" name="Google Shape;558;p56"/>
          <p:cNvSpPr/>
          <p:nvPr/>
        </p:nvSpPr>
        <p:spPr>
          <a:xfrm>
            <a:off x="476250" y="4743450"/>
            <a:ext cx="819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9" name="Google Shape;55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53500"/>
            <a:ext cx="7965143" cy="37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/>
          <p:cNvSpPr txBox="1"/>
          <p:nvPr/>
        </p:nvSpPr>
        <p:spPr>
          <a:xfrm>
            <a:off x="2069600" y="476250"/>
            <a:ext cx="4105800" cy="5715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Deploy to Cloud Run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65" name="Google Shape;565;p57"/>
          <p:cNvGrpSpPr/>
          <p:nvPr/>
        </p:nvGrpSpPr>
        <p:grpSpPr>
          <a:xfrm>
            <a:off x="571500" y="1333500"/>
            <a:ext cx="4762500" cy="3238500"/>
            <a:chOff x="0" y="0"/>
            <a:chExt cx="4762500" cy="3238500"/>
          </a:xfrm>
        </p:grpSpPr>
        <p:sp>
          <p:nvSpPr>
            <p:cNvPr id="566" name="Google Shape;566;p57"/>
            <p:cNvSpPr/>
            <p:nvPr/>
          </p:nvSpPr>
          <p:spPr>
            <a:xfrm>
              <a:off x="0" y="0"/>
              <a:ext cx="47625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57"/>
            <p:cNvSpPr/>
            <p:nvPr/>
          </p:nvSpPr>
          <p:spPr>
            <a:xfrm>
              <a:off x="0" y="0"/>
              <a:ext cx="47625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57"/>
            <p:cNvSpPr txBox="1"/>
            <p:nvPr/>
          </p:nvSpPr>
          <p:spPr>
            <a:xfrm>
              <a:off x="69350" y="98025"/>
              <a:ext cx="4594200" cy="314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EXECUTE DEPLOYMENT COMMAND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Run from the </a:t>
              </a:r>
              <a:r>
                <a:rPr b="0" lang="en" sz="1200">
                  <a:solidFill>
                    <a:srgbClr val="38BDF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community-project-tracker</a:t>
              </a:r>
              <a:r>
                <a:rPr b="0" lang="en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directory: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0">
                  <a:solidFill>
                    <a:srgbClr val="F8FAFC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gcloud run deploy community-project-tracker \</a:t>
              </a:r>
              <a:endParaRPr sz="1050">
                <a:solidFill>
                  <a:srgbClr val="F8FAFC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0">
                  <a:solidFill>
                    <a:srgbClr val="F8FAFC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  --source . \</a:t>
              </a:r>
              <a:endParaRPr sz="1050">
                <a:solidFill>
                  <a:srgbClr val="F8FAFC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0">
                  <a:solidFill>
                    <a:srgbClr val="F8FAFC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  --region europe-west1 \</a:t>
              </a:r>
              <a:endParaRPr sz="1050">
                <a:solidFill>
                  <a:srgbClr val="F8FAFC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0">
                  <a:solidFill>
                    <a:srgbClr val="F8FAFC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  --allow-unauthenticated \</a:t>
              </a:r>
              <a:endParaRPr sz="1050">
                <a:solidFill>
                  <a:srgbClr val="F8FAFC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0">
                  <a:solidFill>
                    <a:srgbClr val="F8FAFC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  --set-env-vars GOOGLE_CLOUD_PROJECT=our-cursor-507508,BIGQUERY_DATASET=community_analytics,BIGQUERY_TABLE=participants</a:t>
              </a:r>
              <a:endParaRPr sz="1050">
                <a:solidFill>
                  <a:srgbClr val="F8FAFC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F8FAFC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69" name="Google Shape;569;p57"/>
          <p:cNvGrpSpPr/>
          <p:nvPr/>
        </p:nvGrpSpPr>
        <p:grpSpPr>
          <a:xfrm>
            <a:off x="5524500" y="1333500"/>
            <a:ext cx="3048000" cy="3238500"/>
            <a:chOff x="0" y="0"/>
            <a:chExt cx="3048000" cy="3238500"/>
          </a:xfrm>
        </p:grpSpPr>
        <p:sp>
          <p:nvSpPr>
            <p:cNvPr id="570" name="Google Shape;570;p57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7"/>
            <p:cNvSpPr/>
            <p:nvPr/>
          </p:nvSpPr>
          <p:spPr>
            <a:xfrm>
              <a:off x="0" y="0"/>
              <a:ext cx="3048000" cy="57300"/>
            </a:xfrm>
            <a:prstGeom prst="roundRect">
              <a:avLst>
                <a:gd fmla="val 50000" name="adj"/>
              </a:avLst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57"/>
            <p:cNvSpPr txBox="1"/>
            <p:nvPr/>
          </p:nvSpPr>
          <p:spPr>
            <a:xfrm>
              <a:off x="228600" y="228600"/>
              <a:ext cx="25908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INTERACTIVE PROMPT</a:t>
              </a:r>
              <a:endParaRPr b="1" sz="10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When asked during deployment: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Allow unauthenticated invocations?</a:t>
              </a:r>
              <a:endParaRPr b="1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34D3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Y</a:t>
              </a: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Select Yes for this classroom project</a:t>
              </a:r>
              <a:endParaRPr b="1" sz="10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Cloud Run's source deployment automatically builds and deploys the application from the source directory. See </a:t>
              </a:r>
              <a:r>
                <a:rPr b="0" lang="en" sz="1050" u="sng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Google Cloud Docs</a:t>
              </a: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75" y="1760925"/>
            <a:ext cx="8839204" cy="1415654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8"/>
          <p:cNvSpPr txBox="1"/>
          <p:nvPr/>
        </p:nvSpPr>
        <p:spPr>
          <a:xfrm>
            <a:off x="2069600" y="476250"/>
            <a:ext cx="4105800" cy="5715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Deploy to Cloud Run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85" name="Google Shape;58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8400"/>
            <a:ext cx="9144000" cy="458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60"/>
          <p:cNvGrpSpPr/>
          <p:nvPr/>
        </p:nvGrpSpPr>
        <p:grpSpPr>
          <a:xfrm>
            <a:off x="571500" y="476250"/>
            <a:ext cx="8001000" cy="571500"/>
            <a:chOff x="0" y="0"/>
            <a:chExt cx="8001000" cy="571500"/>
          </a:xfrm>
        </p:grpSpPr>
        <p:sp>
          <p:nvSpPr>
            <p:cNvPr id="591" name="Google Shape;591;p60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0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Open the application</a:t>
              </a:r>
              <a:endParaRPr b="0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93" name="Google Shape;593;p60"/>
          <p:cNvGrpSpPr/>
          <p:nvPr/>
        </p:nvGrpSpPr>
        <p:grpSpPr>
          <a:xfrm>
            <a:off x="571500" y="1333500"/>
            <a:ext cx="4762500" cy="3238500"/>
            <a:chOff x="0" y="0"/>
            <a:chExt cx="4762500" cy="3238500"/>
          </a:xfrm>
        </p:grpSpPr>
        <p:sp>
          <p:nvSpPr>
            <p:cNvPr id="594" name="Google Shape;594;p60"/>
            <p:cNvSpPr/>
            <p:nvPr/>
          </p:nvSpPr>
          <p:spPr>
            <a:xfrm>
              <a:off x="0" y="0"/>
              <a:ext cx="47625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0"/>
            <p:cNvSpPr/>
            <p:nvPr/>
          </p:nvSpPr>
          <p:spPr>
            <a:xfrm>
              <a:off x="0" y="0"/>
              <a:ext cx="47625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0"/>
            <p:cNvSpPr txBox="1"/>
            <p:nvPr/>
          </p:nvSpPr>
          <p:spPr>
            <a:xfrm>
              <a:off x="228600" y="228600"/>
              <a:ext cx="43053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Get the deployment URL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At the end of deployment, Cloud Run will give you a Service URL such as: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https://community-project-tracker-xxxxx-ew.a.run.app</a:t>
              </a:r>
              <a:endParaRPr b="0" sz="1100">
                <a:solidFill>
                  <a:srgbClr val="38BDF8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97" name="Google Shape;597;p60"/>
          <p:cNvGrpSpPr/>
          <p:nvPr/>
        </p:nvGrpSpPr>
        <p:grpSpPr>
          <a:xfrm>
            <a:off x="5524500" y="1333500"/>
            <a:ext cx="3048000" cy="3238500"/>
            <a:chOff x="0" y="0"/>
            <a:chExt cx="3048000" cy="3238500"/>
          </a:xfrm>
        </p:grpSpPr>
        <p:sp>
          <p:nvSpPr>
            <p:cNvPr id="598" name="Google Shape;598;p60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0" y="0"/>
              <a:ext cx="3048000" cy="57300"/>
            </a:xfrm>
            <a:prstGeom prst="roundRect">
              <a:avLst>
                <a:gd fmla="val 50000" name="adj"/>
              </a:avLst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0"/>
            <p:cNvSpPr txBox="1"/>
            <p:nvPr/>
          </p:nvSpPr>
          <p:spPr>
            <a:xfrm>
              <a:off x="228600" y="228600"/>
              <a:ext cx="25908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Verify Application</a:t>
              </a:r>
              <a:endParaRPr b="1" sz="10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Open the URL in your browser: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You should see:</a:t>
              </a:r>
              <a:endParaRPr b="1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4D399"/>
                  </a:solidFill>
                  <a:highlight>
                    <a:srgbClr val="0F172A"/>
                  </a:highlight>
                  <a:latin typeface="Inter"/>
                  <a:ea typeface="Inter"/>
                  <a:cs typeface="Inter"/>
                  <a:sym typeface="Inter"/>
                </a:rPr>
                <a:t>🌱 Community Project Tracker</a:t>
              </a:r>
              <a:endParaRPr b="1" sz="1000">
                <a:solidFill>
                  <a:srgbClr val="A855F7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188" y="152400"/>
            <a:ext cx="51156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62"/>
          <p:cNvGrpSpPr/>
          <p:nvPr/>
        </p:nvGrpSpPr>
        <p:grpSpPr>
          <a:xfrm>
            <a:off x="571500" y="476250"/>
            <a:ext cx="8001000" cy="571500"/>
            <a:chOff x="0" y="0"/>
            <a:chExt cx="8001000" cy="571500"/>
          </a:xfrm>
        </p:grpSpPr>
        <p:sp>
          <p:nvSpPr>
            <p:cNvPr id="611" name="Google Shape;611;p62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2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Add some projects</a:t>
              </a:r>
              <a:endParaRPr b="0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13" name="Google Shape;613;p62"/>
          <p:cNvGrpSpPr/>
          <p:nvPr/>
        </p:nvGrpSpPr>
        <p:grpSpPr>
          <a:xfrm>
            <a:off x="571500" y="1333500"/>
            <a:ext cx="2476500" cy="3238500"/>
            <a:chOff x="0" y="0"/>
            <a:chExt cx="2476500" cy="3238500"/>
          </a:xfrm>
        </p:grpSpPr>
        <p:sp>
          <p:nvSpPr>
            <p:cNvPr id="614" name="Google Shape;614;p62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2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2"/>
            <p:cNvSpPr txBox="1"/>
            <p:nvPr/>
          </p:nvSpPr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Project 1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Community Table Tennis</a:t>
              </a:r>
              <a:endParaRPr b="0" sz="1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highlight>
                    <a:srgbClr val="0F172A"/>
                  </a:highlight>
                  <a:latin typeface="Inter"/>
                  <a:ea typeface="Inter"/>
                  <a:cs typeface="Inter"/>
                  <a:sym typeface="Inter"/>
                </a:rPr>
                <a:t>SPORTS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Weekly community table tennis sessions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7" name="Google Shape;617;p62"/>
          <p:cNvGrpSpPr/>
          <p:nvPr/>
        </p:nvGrpSpPr>
        <p:grpSpPr>
          <a:xfrm>
            <a:off x="3333750" y="1333500"/>
            <a:ext cx="2476500" cy="3238500"/>
            <a:chOff x="0" y="0"/>
            <a:chExt cx="2476500" cy="3238500"/>
          </a:xfrm>
        </p:grpSpPr>
        <p:sp>
          <p:nvSpPr>
            <p:cNvPr id="618" name="Google Shape;618;p62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2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2"/>
            <p:cNvSpPr txBox="1"/>
            <p:nvPr/>
          </p:nvSpPr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Project 2</a:t>
              </a:r>
              <a:endParaRPr b="1" sz="10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Digital Skills Workshop</a:t>
              </a:r>
              <a:endParaRPr b="0" sz="1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A855F7"/>
                  </a:solidFill>
                  <a:highlight>
                    <a:srgbClr val="0F172A"/>
                  </a:highlight>
                  <a:latin typeface="Inter"/>
                  <a:ea typeface="Inter"/>
                  <a:cs typeface="Inter"/>
                  <a:sym typeface="Inter"/>
                </a:rPr>
                <a:t>EDUCATION</a:t>
              </a:r>
              <a:endParaRPr b="1" sz="10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Basic digital skills for local residents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1" name="Google Shape;621;p62"/>
          <p:cNvGrpSpPr/>
          <p:nvPr/>
        </p:nvGrpSpPr>
        <p:grpSpPr>
          <a:xfrm>
            <a:off x="6096000" y="1333500"/>
            <a:ext cx="2476500" cy="3238500"/>
            <a:chOff x="0" y="0"/>
            <a:chExt cx="2476500" cy="3238500"/>
          </a:xfrm>
        </p:grpSpPr>
        <p:sp>
          <p:nvSpPr>
            <p:cNvPr id="622" name="Google Shape;622;p62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2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2"/>
            <p:cNvSpPr txBox="1"/>
            <p:nvPr/>
          </p:nvSpPr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Project 3</a:t>
              </a:r>
              <a:endParaRPr b="1" sz="10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Community Garden</a:t>
              </a:r>
              <a:endParaRPr b="0" sz="1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4D399"/>
                  </a:solidFill>
                  <a:highlight>
                    <a:srgbClr val="0F172A"/>
                  </a:highlight>
                  <a:latin typeface="Inter"/>
                  <a:ea typeface="Inter"/>
                  <a:cs typeface="Inter"/>
                  <a:sym typeface="Inter"/>
                </a:rPr>
                <a:t>ENVIRONMENT</a:t>
              </a:r>
              <a:endParaRPr b="1" sz="10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Local gardening and environmental project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629" name="Google Shape;62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4"/>
          <p:cNvSpPr txBox="1"/>
          <p:nvPr/>
        </p:nvSpPr>
        <p:spPr>
          <a:xfrm>
            <a:off x="571500" y="42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Look at Firestore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635" name="Google Shape;635;p64"/>
          <p:cNvGrpSpPr/>
          <p:nvPr/>
        </p:nvGrpSpPr>
        <p:grpSpPr>
          <a:xfrm>
            <a:off x="571500" y="1095375"/>
            <a:ext cx="8001000" cy="438300"/>
            <a:chOff x="0" y="0"/>
            <a:chExt cx="8001000" cy="438300"/>
          </a:xfrm>
        </p:grpSpPr>
        <p:sp>
          <p:nvSpPr>
            <p:cNvPr id="636" name="Google Shape;636;p64"/>
            <p:cNvSpPr/>
            <p:nvPr/>
          </p:nvSpPr>
          <p:spPr>
            <a:xfrm>
              <a:off x="0" y="0"/>
              <a:ext cx="8001000" cy="438300"/>
            </a:xfrm>
            <a:prstGeom prst="roundRect">
              <a:avLst>
                <a:gd fmla="val 17391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4"/>
            <p:cNvSpPr txBox="1"/>
            <p:nvPr/>
          </p:nvSpPr>
          <p:spPr>
            <a:xfrm>
              <a:off x="152400" y="0"/>
              <a:ext cx="76962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Open:</a:t>
              </a:r>
              <a:r>
                <a:rPr b="0" lang="en" sz="11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Google Cloud ConsoleFirestore</a:t>
              </a:r>
              <a:r>
                <a:rPr b="1" lang="en" sz="11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Data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638" name="Google Shape;63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72500"/>
            <a:ext cx="8839200" cy="287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5"/>
          <p:cNvSpPr txBox="1"/>
          <p:nvPr/>
        </p:nvSpPr>
        <p:spPr>
          <a:xfrm>
            <a:off x="216875" y="511250"/>
            <a:ext cx="70866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2"/>
                </a:solidFill>
              </a:rPr>
              <a:t>Look at BigQuery</a:t>
            </a:r>
            <a:endParaRPr b="1" sz="2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</a:rPr>
              <a:t>Open: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BigQuery → community_analytics → participants</a:t>
            </a:r>
            <a:endParaRPr b="1" sz="1100">
              <a:solidFill>
                <a:schemeClr val="lt2"/>
              </a:solidFill>
            </a:endParaRPr>
          </a:p>
        </p:txBody>
      </p:sp>
      <p:pic>
        <p:nvPicPr>
          <p:cNvPr id="644" name="Google Shape;64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400" y="1990525"/>
            <a:ext cx="70866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6"/>
          <p:cNvSpPr txBox="1"/>
          <p:nvPr/>
        </p:nvSpPr>
        <p:spPr>
          <a:xfrm>
            <a:off x="571500" y="428625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Run your first BigQuery query</a:t>
            </a:r>
            <a:endParaRPr b="0" sz="2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In BigQuery's SQL editor, run:</a:t>
            </a:r>
            <a:endParaRPr b="0" sz="12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50" name="Google Shape;650;p66"/>
          <p:cNvGrpSpPr/>
          <p:nvPr/>
        </p:nvGrpSpPr>
        <p:grpSpPr>
          <a:xfrm>
            <a:off x="571500" y="1381125"/>
            <a:ext cx="8001000" cy="3238500"/>
            <a:chOff x="0" y="0"/>
            <a:chExt cx="8001000" cy="3238500"/>
          </a:xfrm>
        </p:grpSpPr>
        <p:sp>
          <p:nvSpPr>
            <p:cNvPr id="651" name="Google Shape;651;p66"/>
            <p:cNvSpPr/>
            <p:nvPr/>
          </p:nvSpPr>
          <p:spPr>
            <a:xfrm>
              <a:off x="0" y="0"/>
              <a:ext cx="8001000" cy="3238500"/>
            </a:xfrm>
            <a:prstGeom prst="roundRect">
              <a:avLst>
                <a:gd fmla="val 2352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6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6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6"/>
            <p:cNvSpPr/>
            <p:nvPr/>
          </p:nvSpPr>
          <p:spPr>
            <a:xfrm>
              <a:off x="5143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6"/>
            <p:cNvSpPr txBox="1"/>
            <p:nvPr/>
          </p:nvSpPr>
          <p:spPr>
            <a:xfrm>
              <a:off x="952500" y="95250"/>
              <a:ext cx="609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B72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query.sql</a:t>
              </a:r>
              <a:endPara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56" name="Google Shape;656;p66"/>
            <p:cNvCxnSpPr/>
            <p:nvPr/>
          </p:nvCxnSpPr>
          <p:spPr>
            <a:xfrm>
              <a:off x="0" y="3810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7" name="Google Shape;657;p66"/>
            <p:cNvSpPr txBox="1"/>
            <p:nvPr/>
          </p:nvSpPr>
          <p:spPr>
            <a:xfrm>
              <a:off x="238125" y="523875"/>
              <a:ext cx="7524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project_name,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COUNT</a:t>
              </a:r>
              <a:r>
                <a:rPr lang="en" sz="14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(*)</a:t>
              </a:r>
              <a:r>
                <a:rPr lang="en" sz="140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4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lang="en" sz="140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4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participants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`YOUR_PROJECT_ID.community_analytics.participants`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GROUP BY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project_name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ORDER BY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14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participants</a:t>
              </a:r>
              <a:r>
                <a:rPr lang="en" sz="140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4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DESC</a:t>
              </a:r>
              <a:r>
                <a:rPr lang="en" sz="14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4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67"/>
          <p:cNvGrpSpPr/>
          <p:nvPr/>
        </p:nvGrpSpPr>
        <p:grpSpPr>
          <a:xfrm>
            <a:off x="571500" y="571500"/>
            <a:ext cx="3238500" cy="3714600"/>
            <a:chOff x="0" y="0"/>
            <a:chExt cx="3238500" cy="3714600"/>
          </a:xfrm>
        </p:grpSpPr>
        <p:sp>
          <p:nvSpPr>
            <p:cNvPr id="663" name="Google Shape;663;p67"/>
            <p:cNvSpPr txBox="1"/>
            <p:nvPr/>
          </p:nvSpPr>
          <p:spPr>
            <a:xfrm>
              <a:off x="0" y="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Analyse volunteer hours</a:t>
              </a:r>
              <a:endParaRPr b="0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 </a:t>
              </a:r>
              <a:r>
                <a:rPr lang="en" sz="12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BigQuery</a:t>
              </a:r>
              <a:r>
                <a:rPr b="0" lang="en" sz="12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SQL editor, run this query to aggregate and analyze participant data:</a:t>
              </a:r>
              <a:endParaRPr b="0" sz="12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664" name="Google Shape;664;p67"/>
            <p:cNvGrpSpPr/>
            <p:nvPr/>
          </p:nvGrpSpPr>
          <p:grpSpPr>
            <a:xfrm>
              <a:off x="0" y="1905000"/>
              <a:ext cx="3238500" cy="1809600"/>
              <a:chOff x="0" y="0"/>
              <a:chExt cx="3238500" cy="1809600"/>
            </a:xfrm>
          </p:grpSpPr>
          <p:sp>
            <p:nvSpPr>
              <p:cNvPr id="665" name="Google Shape;665;p67"/>
              <p:cNvSpPr/>
              <p:nvPr/>
            </p:nvSpPr>
            <p:spPr>
              <a:xfrm>
                <a:off x="0" y="0"/>
                <a:ext cx="3238500" cy="1809600"/>
              </a:xfrm>
              <a:prstGeom prst="roundRect">
                <a:avLst>
                  <a:gd fmla="val 4210" name="adj"/>
                </a:avLst>
              </a:prstGeom>
              <a:solidFill>
                <a:srgbClr val="1E293B"/>
              </a:solidFill>
              <a:ln cap="flat" cmpd="sng" w="1430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67"/>
              <p:cNvSpPr txBox="1"/>
              <p:nvPr/>
            </p:nvSpPr>
            <p:spPr>
              <a:xfrm>
                <a:off x="190500" y="190500"/>
                <a:ext cx="2857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KEY QUESTION ANSWERED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F8FAF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Which community project generated the most volunteer hours?</a:t>
                </a:r>
                <a:endParaRPr b="0" sz="16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667" name="Google Shape;667;p67"/>
          <p:cNvGrpSpPr/>
          <p:nvPr/>
        </p:nvGrpSpPr>
        <p:grpSpPr>
          <a:xfrm>
            <a:off x="4381500" y="571500"/>
            <a:ext cx="4191000" cy="4000500"/>
            <a:chOff x="0" y="0"/>
            <a:chExt cx="4191000" cy="4000500"/>
          </a:xfrm>
        </p:grpSpPr>
        <p:sp>
          <p:nvSpPr>
            <p:cNvPr id="668" name="Google Shape;668;p67"/>
            <p:cNvSpPr/>
            <p:nvPr/>
          </p:nvSpPr>
          <p:spPr>
            <a:xfrm>
              <a:off x="0" y="0"/>
              <a:ext cx="4191000" cy="4000500"/>
            </a:xfrm>
            <a:prstGeom prst="roundRect">
              <a:avLst>
                <a:gd fmla="val 1904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7"/>
            <p:cNvSpPr/>
            <p:nvPr/>
          </p:nvSpPr>
          <p:spPr>
            <a:xfrm>
              <a:off x="95250" y="1143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7"/>
            <p:cNvSpPr/>
            <p:nvPr/>
          </p:nvSpPr>
          <p:spPr>
            <a:xfrm>
              <a:off x="285750" y="1143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7"/>
            <p:cNvSpPr/>
            <p:nvPr/>
          </p:nvSpPr>
          <p:spPr>
            <a:xfrm>
              <a:off x="476250" y="1143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7"/>
            <p:cNvSpPr txBox="1"/>
            <p:nvPr/>
          </p:nvSpPr>
          <p:spPr>
            <a:xfrm>
              <a:off x="1143000" y="762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B72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query.sql</a:t>
              </a:r>
              <a:endPara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73" name="Google Shape;673;p67"/>
            <p:cNvCxnSpPr/>
            <p:nvPr/>
          </p:nvCxnSpPr>
          <p:spPr>
            <a:xfrm>
              <a:off x="0" y="342900"/>
              <a:ext cx="419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4" name="Google Shape;674;p67"/>
            <p:cNvSpPr txBox="1"/>
            <p:nvPr/>
          </p:nvSpPr>
          <p:spPr>
            <a:xfrm>
              <a:off x="190500" y="53340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69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endParaRPr b="1" sz="969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69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project_name,</a:t>
              </a:r>
              <a:endParaRPr sz="969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69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SUM</a:t>
              </a:r>
              <a:r>
                <a:rPr lang="en" sz="969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(hours) </a:t>
              </a:r>
              <a:r>
                <a:rPr b="1" lang="en" sz="969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lang="en" sz="969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total_hours</a:t>
              </a:r>
              <a:endParaRPr sz="969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69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endParaRPr b="1" sz="969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69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`YOUR_PROJECT_ID.community_analytics.participants`</a:t>
              </a:r>
              <a:endParaRPr sz="969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69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GROUP BY</a:t>
              </a:r>
              <a:endParaRPr b="1" sz="969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69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project_name</a:t>
              </a:r>
              <a:endParaRPr sz="969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69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ORDER BY</a:t>
              </a:r>
              <a:endParaRPr b="1" sz="969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969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total_hours </a:t>
              </a:r>
              <a:r>
                <a:rPr b="1" lang="en" sz="969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DESC</a:t>
              </a:r>
              <a:r>
                <a:rPr lang="en" sz="969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969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68"/>
          <p:cNvGrpSpPr/>
          <p:nvPr/>
        </p:nvGrpSpPr>
        <p:grpSpPr>
          <a:xfrm>
            <a:off x="571500" y="476250"/>
            <a:ext cx="3238500" cy="1714500"/>
            <a:chOff x="0" y="0"/>
            <a:chExt cx="3238500" cy="1714500"/>
          </a:xfrm>
        </p:grpSpPr>
        <p:sp>
          <p:nvSpPr>
            <p:cNvPr id="680" name="Google Shape;680;p68"/>
            <p:cNvSpPr/>
            <p:nvPr/>
          </p:nvSpPr>
          <p:spPr>
            <a:xfrm>
              <a:off x="0" y="0"/>
              <a:ext cx="3238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8"/>
            <p:cNvSpPr txBox="1"/>
            <p:nvPr/>
          </p:nvSpPr>
          <p:spPr>
            <a:xfrm>
              <a:off x="0" y="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Compare categories</a:t>
              </a:r>
              <a:endParaRPr b="0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Now introduce a slightly more interesting analytical question:</a:t>
              </a:r>
              <a:endParaRPr b="0" sz="12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82" name="Google Shape;682;p68"/>
          <p:cNvGrpSpPr/>
          <p:nvPr/>
        </p:nvGrpSpPr>
        <p:grpSpPr>
          <a:xfrm>
            <a:off x="571500" y="2095500"/>
            <a:ext cx="3238500" cy="1524000"/>
            <a:chOff x="0" y="0"/>
            <a:chExt cx="3238500" cy="1524000"/>
          </a:xfrm>
        </p:grpSpPr>
        <p:sp>
          <p:nvSpPr>
            <p:cNvPr id="683" name="Google Shape;683;p68"/>
            <p:cNvSpPr/>
            <p:nvPr/>
          </p:nvSpPr>
          <p:spPr>
            <a:xfrm>
              <a:off x="0" y="0"/>
              <a:ext cx="3238500" cy="1524000"/>
            </a:xfrm>
            <a:prstGeom prst="roundRect">
              <a:avLst>
                <a:gd fmla="val 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8"/>
            <p:cNvSpPr txBox="1"/>
            <p:nvPr/>
          </p:nvSpPr>
          <p:spPr>
            <a:xfrm>
              <a:off x="190500" y="190500"/>
              <a:ext cx="285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QUESTION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Which type of community project attracts the most participants?</a:t>
              </a:r>
              <a:endParaRPr b="0" sz="15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85" name="Google Shape;685;p68"/>
          <p:cNvGrpSpPr/>
          <p:nvPr/>
        </p:nvGrpSpPr>
        <p:grpSpPr>
          <a:xfrm>
            <a:off x="571500" y="3905250"/>
            <a:ext cx="3238500" cy="571500"/>
            <a:chOff x="0" y="0"/>
            <a:chExt cx="3238500" cy="571500"/>
          </a:xfrm>
        </p:grpSpPr>
        <p:sp>
          <p:nvSpPr>
            <p:cNvPr id="686" name="Google Shape;686;p68"/>
            <p:cNvSpPr/>
            <p:nvPr/>
          </p:nvSpPr>
          <p:spPr>
            <a:xfrm>
              <a:off x="0" y="0"/>
              <a:ext cx="3238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8"/>
            <p:cNvSpPr txBox="1"/>
            <p:nvPr/>
          </p:nvSpPr>
          <p:spPr>
            <a:xfrm>
              <a:off x="0" y="0"/>
              <a:ext cx="323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Students are now doing </a:t>
              </a: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real data analytics</a:t>
              </a:r>
              <a:r>
                <a:rPr b="0" lang="en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8" name="Google Shape;688;p68"/>
          <p:cNvGrpSpPr/>
          <p:nvPr/>
        </p:nvGrpSpPr>
        <p:grpSpPr>
          <a:xfrm>
            <a:off x="4381500" y="476250"/>
            <a:ext cx="4191000" cy="4191000"/>
            <a:chOff x="0" y="0"/>
            <a:chExt cx="4191000" cy="4191000"/>
          </a:xfrm>
        </p:grpSpPr>
        <p:sp>
          <p:nvSpPr>
            <p:cNvPr id="689" name="Google Shape;689;p68"/>
            <p:cNvSpPr/>
            <p:nvPr/>
          </p:nvSpPr>
          <p:spPr>
            <a:xfrm>
              <a:off x="0" y="0"/>
              <a:ext cx="4191000" cy="4191000"/>
            </a:xfrm>
            <a:prstGeom prst="roundRect">
              <a:avLst>
                <a:gd fmla="val 1818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8"/>
            <p:cNvSpPr/>
            <p:nvPr/>
          </p:nvSpPr>
          <p:spPr>
            <a:xfrm>
              <a:off x="85725" y="1143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8"/>
            <p:cNvSpPr/>
            <p:nvPr/>
          </p:nvSpPr>
          <p:spPr>
            <a:xfrm>
              <a:off x="276225" y="1143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8"/>
            <p:cNvSpPr/>
            <p:nvPr/>
          </p:nvSpPr>
          <p:spPr>
            <a:xfrm>
              <a:off x="466725" y="1143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8"/>
            <p:cNvSpPr txBox="1"/>
            <p:nvPr/>
          </p:nvSpPr>
          <p:spPr>
            <a:xfrm>
              <a:off x="1143000" y="762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query.sql</a:t>
              </a:r>
              <a:endParaRPr b="0"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94" name="Google Shape;694;p68"/>
            <p:cNvCxnSpPr/>
            <p:nvPr/>
          </p:nvCxnSpPr>
          <p:spPr>
            <a:xfrm>
              <a:off x="0" y="342900"/>
              <a:ext cx="419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5" name="Google Shape;695;p68"/>
            <p:cNvSpPr txBox="1"/>
            <p:nvPr/>
          </p:nvSpPr>
          <p:spPr>
            <a:xfrm>
              <a:off x="238125" y="533400"/>
              <a:ext cx="3714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75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endParaRPr b="1" sz="875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75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category,</a:t>
              </a:r>
              <a:endParaRPr b="0" sz="875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75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COUNT</a:t>
              </a:r>
              <a:r>
                <a:rPr b="0" lang="en" sz="875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(*)</a:t>
              </a:r>
              <a:r>
                <a:rPr b="1" lang="en" sz="875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875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b="1" lang="en" sz="875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875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participants</a:t>
              </a:r>
              <a:endParaRPr b="1" sz="875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75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endParaRPr b="1" sz="875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75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`YOUR_PROJECT_ID.community_analytics.participants`</a:t>
              </a:r>
              <a:endParaRPr b="0" sz="875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75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GROUP BY</a:t>
              </a:r>
              <a:endParaRPr b="1" sz="875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75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category</a:t>
              </a:r>
              <a:endParaRPr b="0" sz="875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75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ORDER BY</a:t>
              </a:r>
              <a:endParaRPr b="1" sz="875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875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participants </a:t>
              </a:r>
              <a:r>
                <a:rPr b="1" lang="en" sz="875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DESC</a:t>
              </a:r>
              <a:r>
                <a:rPr b="0" lang="en" sz="875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0" sz="875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9"/>
          <p:cNvSpPr txBox="1"/>
          <p:nvPr/>
        </p:nvSpPr>
        <p:spPr>
          <a:xfrm>
            <a:off x="571500" y="428625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Interactive Session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architecture discussion</a:t>
            </a:r>
            <a:endParaRPr b="0" sz="12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701" name="Google Shape;701;p69"/>
          <p:cNvGrpSpPr/>
          <p:nvPr/>
        </p:nvGrpSpPr>
        <p:grpSpPr>
          <a:xfrm>
            <a:off x="571500" y="1476375"/>
            <a:ext cx="3905400" cy="952500"/>
            <a:chOff x="0" y="0"/>
            <a:chExt cx="3905400" cy="952500"/>
          </a:xfrm>
        </p:grpSpPr>
        <p:sp>
          <p:nvSpPr>
            <p:cNvPr id="702" name="Google Shape;702;p69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9"/>
            <p:cNvSpPr txBox="1"/>
            <p:nvPr/>
          </p:nvSpPr>
          <p:spPr>
            <a:xfrm>
              <a:off x="0" y="0"/>
              <a:ext cx="390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QUESTION 1</a:t>
              </a:r>
              <a:endParaRPr b="0" sz="10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Why don't we use BigQuery as the main application database?</a:t>
              </a:r>
              <a:endParaRPr b="0" sz="115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04" name="Google Shape;704;p69"/>
          <p:cNvGrpSpPr/>
          <p:nvPr/>
        </p:nvGrpSpPr>
        <p:grpSpPr>
          <a:xfrm>
            <a:off x="571500" y="2571750"/>
            <a:ext cx="3905400" cy="952500"/>
            <a:chOff x="0" y="0"/>
            <a:chExt cx="3905400" cy="952500"/>
          </a:xfrm>
        </p:grpSpPr>
        <p:sp>
          <p:nvSpPr>
            <p:cNvPr id="705" name="Google Shape;705;p69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9"/>
            <p:cNvSpPr txBox="1"/>
            <p:nvPr/>
          </p:nvSpPr>
          <p:spPr>
            <a:xfrm>
              <a:off x="0" y="0"/>
              <a:ext cx="390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QUESTION 2</a:t>
              </a:r>
              <a:endParaRPr b="0" sz="10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Why don't we use Firestore for large analytical queries?</a:t>
              </a:r>
              <a:endParaRPr b="0" sz="115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07" name="Google Shape;707;p69"/>
          <p:cNvGrpSpPr/>
          <p:nvPr/>
        </p:nvGrpSpPr>
        <p:grpSpPr>
          <a:xfrm>
            <a:off x="571500" y="3667125"/>
            <a:ext cx="3905400" cy="952500"/>
            <a:chOff x="0" y="0"/>
            <a:chExt cx="3905400" cy="952500"/>
          </a:xfrm>
        </p:grpSpPr>
        <p:sp>
          <p:nvSpPr>
            <p:cNvPr id="708" name="Google Shape;708;p69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9"/>
            <p:cNvSpPr txBox="1"/>
            <p:nvPr/>
          </p:nvSpPr>
          <p:spPr>
            <a:xfrm>
              <a:off x="0" y="0"/>
              <a:ext cx="390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QUESTION 3</a:t>
              </a:r>
              <a:endParaRPr b="0" sz="10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Why does Cloud Run need a service account?</a:t>
              </a:r>
              <a:endParaRPr b="0" sz="115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10" name="Google Shape;710;p69"/>
          <p:cNvGrpSpPr/>
          <p:nvPr/>
        </p:nvGrpSpPr>
        <p:grpSpPr>
          <a:xfrm>
            <a:off x="4667250" y="1476375"/>
            <a:ext cx="3905400" cy="952500"/>
            <a:chOff x="0" y="0"/>
            <a:chExt cx="3905400" cy="952500"/>
          </a:xfrm>
        </p:grpSpPr>
        <p:sp>
          <p:nvSpPr>
            <p:cNvPr id="711" name="Google Shape;711;p69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9"/>
            <p:cNvSpPr txBox="1"/>
            <p:nvPr/>
          </p:nvSpPr>
          <p:spPr>
            <a:xfrm>
              <a:off x="0" y="0"/>
              <a:ext cx="390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472B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QUESTION 4</a:t>
              </a:r>
              <a:endParaRPr b="0" sz="1000">
                <a:solidFill>
                  <a:srgbClr val="F472B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What happens if the Cloud Run service doesn't have </a:t>
              </a:r>
              <a:r>
                <a:rPr b="1" lang="en" sz="11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roles/datastore.user</a:t>
              </a:r>
              <a:r>
                <a:rPr b="0" lang="en" sz="115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?</a:t>
              </a:r>
              <a:endParaRPr b="0" sz="115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13" name="Google Shape;713;p69"/>
          <p:cNvGrpSpPr/>
          <p:nvPr/>
        </p:nvGrpSpPr>
        <p:grpSpPr>
          <a:xfrm>
            <a:off x="4667250" y="2571750"/>
            <a:ext cx="3905400" cy="952500"/>
            <a:chOff x="0" y="0"/>
            <a:chExt cx="3905400" cy="952500"/>
          </a:xfrm>
        </p:grpSpPr>
        <p:sp>
          <p:nvSpPr>
            <p:cNvPr id="714" name="Google Shape;714;p69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9"/>
            <p:cNvSpPr txBox="1"/>
            <p:nvPr/>
          </p:nvSpPr>
          <p:spPr>
            <a:xfrm>
              <a:off x="0" y="0"/>
              <a:ext cx="390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472B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QUESTION 5</a:t>
              </a:r>
              <a:endParaRPr b="0" sz="1000">
                <a:solidFill>
                  <a:srgbClr val="F472B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What happens if it doesn't have permission to write to BigQuery?</a:t>
              </a:r>
              <a:endParaRPr b="0" sz="115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16" name="Google Shape;716;p69"/>
          <p:cNvGrpSpPr/>
          <p:nvPr/>
        </p:nvGrpSpPr>
        <p:grpSpPr>
          <a:xfrm>
            <a:off x="4667250" y="3667125"/>
            <a:ext cx="3905400" cy="952500"/>
            <a:chOff x="0" y="0"/>
            <a:chExt cx="3905400" cy="952500"/>
          </a:xfrm>
        </p:grpSpPr>
        <p:sp>
          <p:nvSpPr>
            <p:cNvPr id="717" name="Google Shape;717;p69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9"/>
            <p:cNvSpPr txBox="1"/>
            <p:nvPr/>
          </p:nvSpPr>
          <p:spPr>
            <a:xfrm>
              <a:off x="0" y="0"/>
              <a:ext cx="390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472B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QUESTION 6</a:t>
              </a:r>
              <a:endParaRPr b="0" sz="1000">
                <a:solidFill>
                  <a:srgbClr val="F472B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Why should we avoid giving Cloud Run the </a:t>
              </a:r>
              <a:r>
                <a:rPr b="1" lang="en" sz="11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Owner</a:t>
              </a:r>
              <a:r>
                <a:rPr b="0" lang="en" sz="115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role?</a:t>
              </a:r>
              <a:endParaRPr b="0" sz="115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0"/>
          <p:cNvSpPr txBox="1"/>
          <p:nvPr>
            <p:ph type="title"/>
          </p:nvPr>
        </p:nvSpPr>
        <p:spPr>
          <a:xfrm>
            <a:off x="311700" y="394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your code in </a:t>
            </a:r>
            <a:r>
              <a:rPr lang="en"/>
              <a:t>Github</a:t>
            </a:r>
            <a:endParaRPr/>
          </a:p>
        </p:txBody>
      </p:sp>
      <p:sp>
        <p:nvSpPr>
          <p:cNvPr id="724" name="Google Shape;724;p70"/>
          <p:cNvSpPr txBox="1"/>
          <p:nvPr>
            <p:ph idx="1" type="body"/>
          </p:nvPr>
        </p:nvSpPr>
        <p:spPr>
          <a:xfrm>
            <a:off x="311700" y="886650"/>
            <a:ext cx="8520600" cy="39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 up or login to GitHub account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Go to General</a:t>
            </a:r>
            <a:endParaRPr/>
          </a:p>
        </p:txBody>
      </p:sp>
      <p:pic>
        <p:nvPicPr>
          <p:cNvPr descr="Beautify as image" id="725" name="Google Shape;72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00" y="136026"/>
            <a:ext cx="8770700" cy="48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25" y="51800"/>
            <a:ext cx="8446551" cy="503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00" y="46075"/>
            <a:ext cx="8178002" cy="5051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550" y="0"/>
            <a:ext cx="7973488" cy="5035899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73"/>
          <p:cNvSpPr/>
          <p:nvPr/>
        </p:nvSpPr>
        <p:spPr>
          <a:xfrm>
            <a:off x="2573532" y="14646"/>
            <a:ext cx="1812400" cy="1003325"/>
          </a:xfrm>
          <a:custGeom>
            <a:rect b="b" l="l" r="r" t="t"/>
            <a:pathLst>
              <a:path extrusionOk="0" h="40133" w="72496">
                <a:moveTo>
                  <a:pt x="34158" y="33964"/>
                </a:moveTo>
                <a:cubicBezTo>
                  <a:pt x="25592" y="33964"/>
                  <a:pt x="15625" y="37341"/>
                  <a:pt x="8498" y="32589"/>
                </a:cubicBezTo>
                <a:cubicBezTo>
                  <a:pt x="4886" y="30180"/>
                  <a:pt x="1101" y="26765"/>
                  <a:pt x="250" y="22508"/>
                </a:cubicBezTo>
                <a:cubicBezTo>
                  <a:pt x="-697" y="17772"/>
                  <a:pt x="1935" y="12627"/>
                  <a:pt x="4832" y="8762"/>
                </a:cubicBezTo>
                <a:cubicBezTo>
                  <a:pt x="10898" y="669"/>
                  <a:pt x="24345" y="-1480"/>
                  <a:pt x="34158" y="972"/>
                </a:cubicBezTo>
                <a:cubicBezTo>
                  <a:pt x="42668" y="3098"/>
                  <a:pt x="51767" y="2048"/>
                  <a:pt x="60276" y="4179"/>
                </a:cubicBezTo>
                <a:cubicBezTo>
                  <a:pt x="65838" y="5572"/>
                  <a:pt x="69603" y="11686"/>
                  <a:pt x="71732" y="17010"/>
                </a:cubicBezTo>
                <a:cubicBezTo>
                  <a:pt x="78210" y="33211"/>
                  <a:pt x="39218" y="45446"/>
                  <a:pt x="23619" y="37629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13" y="152400"/>
            <a:ext cx="880858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74"/>
          <p:cNvSpPr/>
          <p:nvPr/>
        </p:nvSpPr>
        <p:spPr>
          <a:xfrm>
            <a:off x="80237" y="70600"/>
            <a:ext cx="1240550" cy="810100"/>
          </a:xfrm>
          <a:custGeom>
            <a:rect b="b" l="l" r="r" t="t"/>
            <a:pathLst>
              <a:path extrusionOk="0" h="32404" w="49622">
                <a:moveTo>
                  <a:pt x="27125" y="31726"/>
                </a:moveTo>
                <a:cubicBezTo>
                  <a:pt x="18381" y="31726"/>
                  <a:pt x="8564" y="29203"/>
                  <a:pt x="2381" y="23020"/>
                </a:cubicBezTo>
                <a:cubicBezTo>
                  <a:pt x="-1759" y="18880"/>
                  <a:pt x="101" y="9264"/>
                  <a:pt x="4672" y="5607"/>
                </a:cubicBezTo>
                <a:cubicBezTo>
                  <a:pt x="15990" y="-3448"/>
                  <a:pt x="41263" y="-1400"/>
                  <a:pt x="47745" y="11564"/>
                </a:cubicBezTo>
                <a:cubicBezTo>
                  <a:pt x="50137" y="16348"/>
                  <a:pt x="50496" y="23324"/>
                  <a:pt x="47287" y="27602"/>
                </a:cubicBezTo>
                <a:cubicBezTo>
                  <a:pt x="44214" y="31698"/>
                  <a:pt x="37745" y="32184"/>
                  <a:pt x="32624" y="32184"/>
                </a:cubicBezTo>
                <a:cubicBezTo>
                  <a:pt x="30615" y="32184"/>
                  <a:pt x="27565" y="33064"/>
                  <a:pt x="26667" y="31267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5"/>
          <p:cNvSpPr/>
          <p:nvPr/>
        </p:nvSpPr>
        <p:spPr>
          <a:xfrm>
            <a:off x="474400" y="707450"/>
            <a:ext cx="8198100" cy="3720900"/>
          </a:xfrm>
          <a:prstGeom prst="roundRect">
            <a:avLst>
              <a:gd fmla="val 4210" name="adj"/>
            </a:avLst>
          </a:prstGeom>
          <a:solidFill>
            <a:srgbClr val="1C2541"/>
          </a:solidFill>
          <a:ln cap="flat" cmpd="sng" w="19050">
            <a:solidFill>
              <a:srgbClr val="3A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75"/>
          <p:cNvSpPr txBox="1"/>
          <p:nvPr/>
        </p:nvSpPr>
        <p:spPr>
          <a:xfrm>
            <a:off x="762000" y="808750"/>
            <a:ext cx="58461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B132B"/>
                </a:solidFill>
                <a:highlight>
                  <a:srgbClr val="38BDF8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CLOUD PRINCIPLE</a:t>
            </a:r>
            <a:endParaRPr b="1" sz="1100">
              <a:solidFill>
                <a:srgbClr val="0B13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Stop and delete Unused Resources and projects</a:t>
            </a:r>
            <a:endParaRPr b="0" sz="3200">
              <a:solidFill>
                <a:srgbClr val="F1F5F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“Go to IAM, Manage Resources” to delete </a:t>
            </a:r>
            <a:r>
              <a:rPr lang="en" sz="240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</a:t>
            </a:r>
            <a:r>
              <a:rPr lang="en" sz="240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projects”</a:t>
            </a:r>
            <a:endParaRPr sz="2400">
              <a:solidFill>
                <a:srgbClr val="F1F5F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One of the most critical cloud optimi</a:t>
            </a:r>
            <a:r>
              <a:rPr lang="en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0" lang="en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ation principles is shutting down idle assets to actively prevent billing leaks.</a:t>
            </a:r>
            <a:endParaRPr b="1" sz="1100">
              <a:solidFill>
                <a:srgbClr val="0B13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54" name="Google Shape;754;p75"/>
          <p:cNvGrpSpPr/>
          <p:nvPr/>
        </p:nvGrpSpPr>
        <p:grpSpPr>
          <a:xfrm>
            <a:off x="6477000" y="2000250"/>
            <a:ext cx="1143000" cy="1236472"/>
            <a:chOff x="0" y="0"/>
            <a:chExt cx="1143000" cy="1236472"/>
          </a:xfrm>
        </p:grpSpPr>
        <p:sp>
          <p:nvSpPr>
            <p:cNvPr id="755" name="Google Shape;755;p75"/>
            <p:cNvSpPr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75"/>
            <p:cNvSpPr txBox="1"/>
            <p:nvPr/>
          </p:nvSpPr>
          <p:spPr>
            <a:xfrm>
              <a:off x="0" y="93472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power_settings_new</a:t>
              </a:r>
              <a:endParaRPr sz="6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6"/>
          <p:cNvSpPr/>
          <p:nvPr/>
        </p:nvSpPr>
        <p:spPr>
          <a:xfrm>
            <a:off x="762000" y="762000"/>
            <a:ext cx="7620000" cy="3619500"/>
          </a:xfrm>
          <a:prstGeom prst="roundRect">
            <a:avLst>
              <a:gd fmla="val 4210" name="adj"/>
            </a:avLst>
          </a:prstGeom>
          <a:solidFill>
            <a:srgbClr val="1C2541"/>
          </a:solidFill>
          <a:ln cap="flat" cmpd="sng" w="19050">
            <a:solidFill>
              <a:srgbClr val="3A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76"/>
          <p:cNvSpPr txBox="1"/>
          <p:nvPr/>
        </p:nvSpPr>
        <p:spPr>
          <a:xfrm>
            <a:off x="861200" y="1401000"/>
            <a:ext cx="59649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B132B"/>
                </a:solidFill>
                <a:highlight>
                  <a:srgbClr val="38BDF8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SUCCESS</a:t>
            </a:r>
            <a:endParaRPr b="0" sz="1000">
              <a:solidFill>
                <a:srgbClr val="0B132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      </a:t>
            </a:r>
            <a:r>
              <a:rPr b="0" lang="en" sz="320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Completed!</a:t>
            </a:r>
            <a:endParaRPr b="0" sz="1000">
              <a:solidFill>
                <a:srgbClr val="0B132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6000">
                <a:solidFill>
                  <a:srgbClr val="2DB9C8"/>
                </a:solidFill>
                <a:latin typeface="Inter"/>
                <a:ea typeface="Inter"/>
                <a:cs typeface="Inter"/>
                <a:sym typeface="Inter"/>
              </a:rPr>
              <a:t>Congratulations </a:t>
            </a:r>
            <a:endParaRPr b="0" sz="6000">
              <a:solidFill>
                <a:srgbClr val="2DB9C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descr="a cartoon penguin is holding a party horn and confetti is falling around him (Provided by Tenor)" id="763" name="Google Shape;76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2175" y="1119200"/>
            <a:ext cx="2111375" cy="211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7"/>
          <p:cNvSpPr/>
          <p:nvPr/>
        </p:nvSpPr>
        <p:spPr>
          <a:xfrm>
            <a:off x="762000" y="762000"/>
            <a:ext cx="7620000" cy="3619500"/>
          </a:xfrm>
          <a:prstGeom prst="roundRect">
            <a:avLst>
              <a:gd fmla="val 4210" name="adj"/>
            </a:avLst>
          </a:prstGeom>
          <a:solidFill>
            <a:srgbClr val="1C2541"/>
          </a:solidFill>
          <a:ln cap="flat" cmpd="sng" w="19050">
            <a:solidFill>
              <a:srgbClr val="3A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9" name="Google Shape;769;p77"/>
          <p:cNvGrpSpPr/>
          <p:nvPr/>
        </p:nvGrpSpPr>
        <p:grpSpPr>
          <a:xfrm>
            <a:off x="1238250" y="1238250"/>
            <a:ext cx="5349900" cy="2809800"/>
            <a:chOff x="0" y="0"/>
            <a:chExt cx="5349900" cy="2809800"/>
          </a:xfrm>
        </p:grpSpPr>
        <p:sp>
          <p:nvSpPr>
            <p:cNvPr id="770" name="Google Shape;770;p77"/>
            <p:cNvSpPr/>
            <p:nvPr/>
          </p:nvSpPr>
          <p:spPr>
            <a:xfrm>
              <a:off x="0" y="0"/>
              <a:ext cx="46674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77"/>
            <p:cNvSpPr txBox="1"/>
            <p:nvPr/>
          </p:nvSpPr>
          <p:spPr>
            <a:xfrm>
              <a:off x="0" y="0"/>
              <a:ext cx="53499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B132B"/>
                  </a:solidFill>
                  <a:highlight>
                    <a:srgbClr val="38BDF8"/>
                  </a:highlight>
                  <a:latin typeface="Inter ExtraBold"/>
                  <a:ea typeface="Inter ExtraBold"/>
                  <a:cs typeface="Inter ExtraBold"/>
                  <a:sym typeface="Inter ExtraBold"/>
                </a:rPr>
                <a:t>QUESTIONS</a:t>
              </a:r>
              <a:endParaRPr b="0" sz="1000">
                <a:solidFill>
                  <a:srgbClr val="0B13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F1F5F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Any questions?</a:t>
              </a:r>
              <a:endParaRPr b="0" sz="420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Thank you for your time. Feel free to ask anything </a:t>
              </a:r>
              <a:endParaRPr b="0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or share your thoughts.</a:t>
              </a:r>
              <a:endParaRPr b="0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72" name="Google Shape;772;p77"/>
          <p:cNvSpPr/>
          <p:nvPr/>
        </p:nvSpPr>
        <p:spPr>
          <a:xfrm>
            <a:off x="6381750" y="2000250"/>
            <a:ext cx="1143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enguin with a question mark above it (Provided by Tenor)" id="773" name="Google Shape;77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700" y="1546060"/>
            <a:ext cx="2194225" cy="2194175"/>
          </a:xfrm>
          <a:prstGeom prst="rect">
            <a:avLst/>
          </a:prstGeom>
          <a:solidFill>
            <a:srgbClr val="1C2541"/>
          </a:solidFill>
          <a:ln cap="flat" cmpd="sng" w="19050">
            <a:solidFill>
              <a:srgbClr val="3A506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